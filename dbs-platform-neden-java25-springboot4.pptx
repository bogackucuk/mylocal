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Bu slaytı 'teknoloji karşılaştırması' değil 'risk anlatısı' olarak kurduk — önce 'neden önemli', sonra 'hangi sürüm'. Timeline, 'destek bitti ama kod üretimde' gerçeğini soyut değil somut gösteriyor. '12 modülün ilki' cümlesi bilerek tekrar ediliyor (bu sayfa + sayfa 4) çünkü karar vericinin zihninde 'bir mail servisi' değil 'referans mimari' çerçevesi oturmalı.
KAVRAM: '.NET desteği bitti' demek, Microsoft'un artık güvenlik yaması üretmediği, CVE'lerin açık kaldığı anlamına gelir — 'yavaş kötüleşen' değil 'sabit noktada donmuş ama etrafı hareket eden' bir risk türü. Teknik borç ekonomisi: bugün ödenmeyen küçük maliyet, kod tabanı büyüdükçe katlanarak büyür.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Üç sütun, çünkü izleyici homojen değil — yönetim 'ne zaman tekrar konuşacağız' (destek süresi), mimar 'bana ne kazandırıyor' (dil/çerçeve), SRE 'sunucu maliyeti/pod davranışı' (runtime ekonomisi) sorusuyla ilgileniyor. Ortadaki sütun teal ile işaretli çünkü sonraki 6-7 slaytın açılımı orada.
KAVRAM: 'Destek süresi' iki takvimi kapsar — Oracle/OpenJDK LTS takvimi (6 ayda bir feature release, LTS etiketi sadece 17/21/25 gibi sürümlerde) ve Spring desteği (OSS destek ~1 yıl, ticari destek daha uzun). Spring Boot 4 + Spring Framework 7 aynı gün (20 Kasım 2025) GA oldu — 'en taze major' seçiminin güncelliğini gösteren somut bir tarih.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Tablo 4 satırla sınırlı çünkü amaç kapsamlı sürüm tarihçesi değil, gerçekte tartışılan iki seçenek arasındaki karar anını göstermek. 'Seçilen ✓' etiketi teal ile işaretli, göz hemen doğru satıra gidiyor.
KAVRAM: Spring Boot 3.x 'bakım' modunda — tamamen destek dışı değil ama resilience/modüler starter/JSpecify gibi yeni büyük özellikler sadece Boot 4'te. 'Çalışıyor ama büyümüyor' bir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YAML konfigürasyonunu öne çıkardık çünkü mesaj şu: bu özellik hiçbir kod satırı değiştirmeden devreye giriyor — framework'ün otomasyonunu kullanıyoruz, özel bir şey yazmadık.
KAVRAM: Platform thread ~1MB stack + 1:1 OS eşlemesi; sanal thread M:N modelinde taşıyıcı havuzu üzerinde çalışır, bloke olduğunda taşıyıcıyı bırakır. Fayda sadece IO-bound işte var. Pinning tarihi: JDK24 JEP491 ile synchronized blok sorunu çözüldü — 'neden 21 değil 25' sorusuna somut bir cevap.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RequestContextHolder'daki gerçek yorumu slayta taşıdık çünkü bu bir pazarlama iddiası değil, kod içinde zaten yazılı bir mühendislik notu — güven kazandırıyor.
KAVRAM: ScopedValue JDK25'te JEP506 ile finalize edildi (Loom'un sanal thread'lerden sonraki 2. teslimatı). ThreadLocal'dan 3 farkı: değişmezlik, otomatik ömür yönetimi, yapısal eşzamanlılıkla (StructuredTaskScope / JEP505, hâlâ preview) bütünleşme.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Java 25'te 11 JEP finalize/preview oldu; hepsini listelemek yerine bu servisin profiline (küçük çok nesne üreten, IO-bound, container'da koşan) doğrudan dokunan 4'ünü seçtik.
KAVRAM/DÜZELTME: Compact Object Headers varsayılan açık DEĞİL, JVM bayrağı gerekiyor (JDK27'de JEP534 ile varsayılan olması planlanıyor) — POC'un çalıştırma script'inde bu bayrak kontrol edilmeli. ZGC'nin generational modu JDK21'den varsayılan (JEP439); Shenandoah'ınki JDK25'te JEP521 ile üretim özelliği oldu — ikisi ALTERNATİF, aynı anda kullanılmaz, hangisi seçileceği ayrı bir karar.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ProcessingOutcome/Verdict örneğini seçtik çünkü tip güvenliği kavramının soyut kalmadığı, gerçekten bug önleyen bir örnek. '// default yok' yorumu bilerek bırakıldı — derleyici garantisini görsel olarak hatırlatıyor.
KAVRAM: İki JEP'in birleşimi: sealed classes (JEP409, JDK17) + pattern matching for switch (JEP441, JDK21). record pattern (JEP440, JDK21) ile alanları tek satırda söküp almak mümkün — kod tabanında henüz kullanılmıyorsa 'sıradaki adım' olarak not edilebilir.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Bu üç özellik, her biri gerçek bir legacy sorununa (int hata kodu, get(0) çökmesi, diske yazıp geri okuma) 1:1 eşleniyor. JEP/JDK etiketlerini bilerek ekledik — hepsinin '25'e özel' olmadığını dürüstçe göstermek için.
KAVRAM: LTS atlama stratejisinin gizli faydası burada — Java 17'den 25'e geçerken sadece 25'in yenilikleri değil, aradaki 18-24 sürümlerinde biriken tüm küçük iyileştirmeler de tek seferde geliyor.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İki kod kutusunu yan yana koyduk çünkü 'aynı işi yapan farklı maliyetli iki yol' mesajını renk kontrastıyla destekliyor. Uyarı kutusu bilerek en alta, dikkat çeken bir renkte — bu slaytın yüzeysel bir pazarlama slaydı olmadığını gösteriyor.
KAVRAM: @Retryable/@ConcurrencyLimit bir AOP proxy interceptor'ı üzerinden çalışıyor (mekanizma spring-retry'ye benzer, ama artık ayrı kütüphane/sürüm senkronizasyonu yok). Sınır: circuit breaker değil, sadece retry.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Tabloyu üç sütunlu tuttuk çünkü bu slayt aslında kalan 11 modül için bir migrasyon kontrol listesi işlevi görüyor — sunumun ötesinde yeniden kullanılabilir bir referans.
KAVRAM: Boot 4'ün codebase'i 70'ten fazla odaklı modüle bölündü. Bankacılık/kurumsal bağlamda ek fayda: bağımlılık taraması (SCA) yapılırken gereksiz sürüklenen kütüphaneler yanlış pozitif güvenlik uyarılarına yol açar — dar starter'lar bu taramaları da sadeleştirir.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İki kavramı (serileştirme, null güvenliği) aynı slayta koyduk çünkü ikisi de 'Boot 4'ün tip sistemini daha katı/öngörülebilir yapma' temasının parçası — biri runtime hata yönetimini sadeleştiriyor, diğeri derleme/IDE zamanında hata yakalıyor.
KAVRAM: JSpecify @NullMarked ile paket seviyesinde varsayılan non-null modeli geliyor — her yerde tek tek @NonNull yazmak yerine 'varsayılan güvenli, istisnalar işaretli'. IDE/statik analiz araçları (NullAway vb.) bu bilgiyi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Config bloğunu gerçek application.yml'den olduğu gibi gösterdik çünkü bu üç ayarın birbirinden ayrı düşünülemeyeceğini vurgulamak istedik — biri olmadan diğeri anlamsız kalıyor.
KAVRAM: Idempotent producer garantisi bu üçünün BİRLİKTE doğru kurulmasına bağlı. compression.type=snappy seçimi rastgele değil: mail eki metadata'sı tekrar eden alanlarla dolu JSON — snappy düşük CPU maliyetiyle iyi bir sıkıştırma oranı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'Neden hem Kafka hem RabbitMQ?' sorusu önceki sunumda örtük kalmıştı — bunu açıkça sorup cevaplamak, izleyicinin en olası itirazını önden karşılıyor.
KAVRAM: Dual-write problemi — DB commit ve broker publish iki ayrı kaynak, aralarında cross-system transaction yok. Outbox deseni bunu DB transaction'ı içine yazıp ayrı bir relay ile göndererek çözer; sonuç at-least-once + idempotent tüketim.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Bu slayt yeni eklendi çünkü Hexagonal Architecture, sonraki sayfadaki tüm desenlerin (Strategy, Factory, Chain of Responsibility, Composite) şemsiye kavramı — önce kavramı, sonra somut örnekleri göstermek daha güçlü oturuyor.
KAVRAM: Cockburn 2005. Dependency Inversion: bağımlılık her zaman adapter'dan domain'e (içe) doğru. EWS→Graph geçişi somut bir örnek: yeni adapter yazmak yeterli, domain değişmez. Boot4'ün dar starter'larıyla doğal örtüşme: her adapter sadece kendi teknolojisinin bağımlılığını taşır.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Tabloyu 'Desen / Nerede / Niye' üç sütunuyla tuttuk çünkü her deseni soyut bir tanım olarak değil, kod tabanındaki gerçek bir sınıf adıyla eşleştirmek istedik — 'ders kitabı değil, gerçekten yazdığımız kod' mesajı.
KAVRAM: Her satırın legacy karşılığı var — Strategy dağınık if/else'i, Factory seçim mantığını, Chain of Responsibility iç içe doğrulamayı, Composite ise 'yeni bir hedef eklemek' ihtiyacını çözüyor.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Seçilen 7 satır, legacy analizinde bulunan tüm bulgu (19 hata + 1 kritik güvenlik açığı) değil — teknoloji seçimiyle doğrudan ilişkili olanları seçtik. Amaç 'her şeyi düzelttik' değil, 'bu tercihler bu sorunları çözdü' nedenselliğini göstermek.
KAVRAM: Şifreler satırının bankacılık bağlamında ek ağırlığı var — düzenleyici uyumluluk (KVKK/PCI-DSS benzeri iç politikalar) genelde 'gizli bilgi asla düz metin olamaz' kuralını zorunlu kılar; bu bir denetim (audit) gereksinimi, sadece iyi pratik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BÖYLE YAZDIK: Dört madde bilerek sayfa 3'teki üç sütunlu karar çerçevesine geri referans veriyor (01-02-03), dördüncü madde (04) bilinçli olarak 'her şey mükemmel değil, bilinen bir sonraki adımımız var' diyor. Bu, tamamen pürüzsüz bir anlatı yerine bilinen sınırları açıkça sahiplenerek sunumun geri kalanına da güvenilirlik kazandırıyor.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94560"/>
            <a:ext cx="6400800" cy="6400800"/>
          </a:xfrm>
          <a:prstGeom prst="ellipse">
            <a:avLst/>
          </a:prstGeom>
          <a:solidFill>
            <a:srgbClr val="141A46"/>
          </a:solidFill>
          <a:ln/>
        </p:spPr>
      </p:sp>
      <p:sp>
        <p:nvSpPr>
          <p:cNvPr id="3" name="Shape 1"/>
          <p:cNvSpPr/>
          <p:nvPr/>
        </p:nvSpPr>
        <p:spPr>
          <a:xfrm>
            <a:off x="9875520" y="4206240"/>
            <a:ext cx="3840480" cy="3840480"/>
          </a:xfrm>
          <a:prstGeom prst="ellipse">
            <a:avLst/>
          </a:prstGeom>
          <a:solidFill>
            <a:srgbClr val="028090">
              <a:alpha val="45000"/>
            </a:srgbClr>
          </a:solidFill>
          <a:ln/>
        </p:spPr>
      </p:sp>
      <p:sp>
        <p:nvSpPr>
          <p:cNvPr id="4" name="Shape 2"/>
          <p:cNvSpPr/>
          <p:nvPr/>
        </p:nvSpPr>
        <p:spPr>
          <a:xfrm>
            <a:off x="594360" y="594360"/>
            <a:ext cx="2880360" cy="292608"/>
          </a:xfrm>
          <a:prstGeom prst="roundRect">
            <a:avLst>
              <a:gd name="adj" fmla="val 50000"/>
            </a:avLst>
          </a:prstGeom>
          <a:solidFill>
            <a:srgbClr val="02C39A"/>
          </a:solidFill>
          <a:ln/>
        </p:spPr>
      </p:sp>
      <p:sp>
        <p:nvSpPr>
          <p:cNvPr id="5" name="Text 3"/>
          <p:cNvSpPr/>
          <p:nvPr/>
        </p:nvSpPr>
        <p:spPr>
          <a:xfrm>
            <a:off x="594360" y="594360"/>
            <a:ext cx="2880360" cy="292608"/>
          </a:xfrm>
          <a:prstGeom prst="rect">
            <a:avLst/>
          </a:prstGeom>
          <a:noFill/>
          <a:ln/>
        </p:spPr>
        <p:txBody>
          <a:bodyPr wrap="square" lIns="0" tIns="0" rIns="0" bIns="0" rtlCol="0" anchor="ctr"/>
          <a:lstStyle/>
          <a:p>
            <a:pPr algn="ctr" indent="0" marL="0">
              <a:buNone/>
            </a:pPr>
            <a:r>
              <a:rPr lang="en-US" sz="1100" b="1" dirty="0">
                <a:solidFill>
                  <a:srgbClr val="141A46"/>
                </a:solidFill>
                <a:latin typeface="Calibri" pitchFamily="34" charset="0"/>
                <a:ea typeface="Calibri" pitchFamily="34" charset="-122"/>
                <a:cs typeface="Calibri" pitchFamily="34" charset="-120"/>
              </a:rPr>
              <a:t>TEKNOLOJİ SEÇİM RAPORU</a:t>
            </a:r>
            <a:endParaRPr lang="en-US" sz="1100" dirty="0"/>
          </a:p>
        </p:txBody>
      </p:sp>
      <p:sp>
        <p:nvSpPr>
          <p:cNvPr id="6" name="Text 4"/>
          <p:cNvSpPr/>
          <p:nvPr/>
        </p:nvSpPr>
        <p:spPr>
          <a:xfrm>
            <a:off x="594360" y="1965960"/>
            <a:ext cx="10058400" cy="914400"/>
          </a:xfrm>
          <a:prstGeom prst="rect">
            <a:avLst/>
          </a:prstGeom>
          <a:noFill/>
          <a:ln/>
        </p:spPr>
        <p:txBody>
          <a:bodyPr wrap="square" lIns="0" tIns="0" rIns="0" bIns="0" rtlCol="0" anchor="ctr"/>
          <a:lstStyle/>
          <a:p>
            <a:pPr indent="0" marL="0">
              <a:buNone/>
            </a:pPr>
            <a:r>
              <a:rPr lang="en-US" sz="2600" dirty="0">
                <a:solidFill>
                  <a:srgbClr val="CADCFC"/>
                </a:solidFill>
                <a:latin typeface="Cambria" pitchFamily="34" charset="0"/>
                <a:ea typeface="Cambria" pitchFamily="34" charset="-122"/>
                <a:cs typeface="Cambria" pitchFamily="34" charset="-120"/>
              </a:rPr>
              <a:t>dbs-platform</a:t>
            </a:r>
            <a:endParaRPr lang="en-US" sz="2600" dirty="0"/>
          </a:p>
        </p:txBody>
      </p:sp>
      <p:sp>
        <p:nvSpPr>
          <p:cNvPr id="7" name="Text 5"/>
          <p:cNvSpPr/>
          <p:nvPr/>
        </p:nvSpPr>
        <p:spPr>
          <a:xfrm>
            <a:off x="548640" y="2423160"/>
            <a:ext cx="11155680" cy="13716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Neden Java 25 </a:t>
            </a:r>
            <a:pPr indent="0" marL="0">
              <a:buNone/>
            </a:pPr>
            <a:r>
              <a:rPr lang="en-US" sz="4600" b="1" dirty="0">
                <a:solidFill>
                  <a:srgbClr val="02C39A"/>
                </a:solidFill>
                <a:latin typeface="Cambria" pitchFamily="34" charset="0"/>
                <a:ea typeface="Cambria" pitchFamily="34" charset="-122"/>
                <a:cs typeface="Cambria" pitchFamily="34" charset="-120"/>
              </a:rPr>
              <a:t>+</a:t>
            </a:r>
            <a:pPr indent="0" marL="0">
              <a:buNone/>
            </a:pPr>
            <a:r>
              <a:rPr lang="en-US" sz="4600" b="1" dirty="0">
                <a:solidFill>
                  <a:srgbClr val="FFFFFF"/>
                </a:solidFill>
                <a:latin typeface="Cambria" pitchFamily="34" charset="0"/>
                <a:ea typeface="Cambria" pitchFamily="34" charset="-122"/>
                <a:cs typeface="Cambria" pitchFamily="34" charset="-120"/>
              </a:rPr>
              <a:t> Spring Boot 4?</a:t>
            </a:r>
            <a:endParaRPr lang="en-US" sz="4600" dirty="0"/>
          </a:p>
        </p:txBody>
      </p:sp>
      <p:sp>
        <p:nvSpPr>
          <p:cNvPr id="8" name="Text 6"/>
          <p:cNvSpPr/>
          <p:nvPr/>
        </p:nvSpPr>
        <p:spPr>
          <a:xfrm>
            <a:off x="594360" y="3794760"/>
            <a:ext cx="932688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Java 17 / Spring Boot 3 yerine güncel LTS ikilisini seçme gerekçesi — POC bulguları, somut kod örnekleri ve mimari kavramlarla.</a:t>
            </a:r>
            <a:endParaRPr lang="en-US" sz="1600" dirty="0"/>
          </a:p>
        </p:txBody>
      </p:sp>
      <p:sp>
        <p:nvSpPr>
          <p:cNvPr id="9" name="Shape 7"/>
          <p:cNvSpPr/>
          <p:nvPr/>
        </p:nvSpPr>
        <p:spPr>
          <a:xfrm>
            <a:off x="594360" y="4892040"/>
            <a:ext cx="2926080" cy="0"/>
          </a:xfrm>
          <a:prstGeom prst="line">
            <a:avLst/>
          </a:prstGeom>
          <a:noFill/>
          <a:ln w="31750">
            <a:solidFill>
              <a:srgbClr val="02C39A"/>
            </a:solidFill>
            <a:prstDash val="solid"/>
          </a:ln>
        </p:spPr>
      </p:sp>
      <p:sp>
        <p:nvSpPr>
          <p:cNvPr id="10" name="Text 8"/>
          <p:cNvSpPr/>
          <p:nvPr/>
        </p:nvSpPr>
        <p:spPr>
          <a:xfrm>
            <a:off x="594360" y="5029200"/>
            <a:ext cx="8229600" cy="320040"/>
          </a:xfrm>
          <a:prstGeom prst="rect">
            <a:avLst/>
          </a:prstGeom>
          <a:noFill/>
          <a:ln/>
        </p:spPr>
        <p:txBody>
          <a:bodyPr wrap="square" lIns="0" tIns="0" rIns="0" bIns="0" rtlCol="0" anchor="ctr"/>
          <a:lstStyle/>
          <a:p>
            <a:pPr indent="0" marL="0">
              <a:buNone/>
            </a:pPr>
            <a:r>
              <a:rPr lang="en-US" sz="1250" dirty="0">
                <a:solidFill>
                  <a:srgbClr val="5B6B8C"/>
                </a:solidFill>
                <a:latin typeface="Calibri" pitchFamily="34" charset="0"/>
                <a:ea typeface="Calibri" pitchFamily="34" charset="-122"/>
                <a:cs typeface="Calibri" pitchFamily="34" charset="-120"/>
              </a:rPr>
              <a:t>dbs-platform POC  ·  dbs-common · dbs-messaging · dbs-mail-reader</a:t>
            </a:r>
            <a:endParaRPr lang="en-US" sz="1250" dirty="0"/>
          </a:p>
        </p:txBody>
      </p:sp>
      <p:sp>
        <p:nvSpPr>
          <p:cNvPr id="11" name="Text 9"/>
          <p:cNvSpPr/>
          <p:nvPr/>
        </p:nvSpPr>
        <p:spPr>
          <a:xfrm>
            <a:off x="594360" y="6263640"/>
            <a:ext cx="5486400" cy="274320"/>
          </a:xfrm>
          <a:prstGeom prst="rect">
            <a:avLst/>
          </a:prstGeom>
          <a:noFill/>
          <a:ln/>
        </p:spPr>
        <p:txBody>
          <a:bodyPr wrap="square" lIns="0" tIns="0" rIns="0" bIns="0" rtlCol="0" anchor="ctr"/>
          <a:lstStyle/>
          <a:p>
            <a:pPr indent="0" marL="0">
              <a:buNone/>
            </a:pPr>
            <a:r>
              <a:rPr lang="en-US" sz="1100" dirty="0">
                <a:solidFill>
                  <a:srgbClr val="8A9BC2"/>
                </a:solidFill>
                <a:latin typeface="Calibri" pitchFamily="34" charset="0"/>
                <a:ea typeface="Calibri" pitchFamily="34" charset="-122"/>
                <a:cs typeface="Calibri" pitchFamily="34" charset="-120"/>
              </a:rPr>
              <a:t>Boğaç  ·  Backend Modernizasyon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BAĞLAM</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Aynı hatayı ikinci kez yapmayalım</a:t>
            </a:r>
            <a:endParaRPr lang="en-US" sz="2800" dirty="0"/>
          </a:p>
        </p:txBody>
      </p:sp>
      <p:sp>
        <p:nvSpPr>
          <p:cNvPr id="4" name="Text 2"/>
          <p:cNvSpPr/>
          <p:nvPr/>
        </p:nvSpPr>
        <p:spPr>
          <a:xfrm>
            <a:off x="548640" y="1572768"/>
            <a:ext cx="11064240" cy="777240"/>
          </a:xfrm>
          <a:prstGeom prst="rect">
            <a:avLst/>
          </a:prstGeom>
          <a:noFill/>
          <a:ln/>
        </p:spPr>
        <p:txBody>
          <a:bodyPr wrap="square" lIns="0" tIns="0" rIns="0" bIns="0" rtlCol="0" anchor="ctr"/>
          <a:lstStyle/>
          <a:p>
            <a:pPr indent="0" marL="0">
              <a:lnSpc>
                <a:spcPct val="120000"/>
              </a:lnSpc>
              <a:buNone/>
            </a:pPr>
            <a:r>
              <a:rPr lang="en-US" sz="1500" dirty="0">
                <a:solidFill>
                  <a:srgbClr val="1B2440"/>
                </a:solidFill>
                <a:latin typeface="Calibri" pitchFamily="34" charset="0"/>
                <a:ea typeface="Calibri" pitchFamily="34" charset="-122"/>
                <a:cs typeface="Calibri" pitchFamily="34" charset="-120"/>
              </a:rPr>
              <a:t>.NET Framework 4.5.2 desteği 2022'de sona erdi; servis hâlâ üretimde çalışıyor. dbs-platform, on iki legacy modülün ilki — bu modülün üzerine kurulacak temel ne kadar uzun ömürlü olursa, kalan modüller o kadar az teknik borç taşır.</a:t>
            </a:r>
            <a:endParaRPr lang="en-US" sz="1500" dirty="0"/>
          </a:p>
        </p:txBody>
      </p:sp>
      <p:sp>
        <p:nvSpPr>
          <p:cNvPr id="5" name="Shape 3"/>
          <p:cNvSpPr/>
          <p:nvPr/>
        </p:nvSpPr>
        <p:spPr>
          <a:xfrm>
            <a:off x="914400" y="2788920"/>
            <a:ext cx="10332720" cy="0"/>
          </a:xfrm>
          <a:prstGeom prst="line">
            <a:avLst/>
          </a:prstGeom>
          <a:noFill/>
          <a:ln w="25400">
            <a:solidFill>
              <a:srgbClr val="C9D2E8"/>
            </a:solidFill>
            <a:prstDash val="solid"/>
          </a:ln>
        </p:spPr>
      </p:sp>
      <p:sp>
        <p:nvSpPr>
          <p:cNvPr id="6" name="Shape 4"/>
          <p:cNvSpPr/>
          <p:nvPr/>
        </p:nvSpPr>
        <p:spPr>
          <a:xfrm>
            <a:off x="1380744" y="2706624"/>
            <a:ext cx="164592" cy="164592"/>
          </a:xfrm>
          <a:prstGeom prst="ellipse">
            <a:avLst/>
          </a:prstGeom>
          <a:solidFill>
            <a:srgbClr val="B85042"/>
          </a:solidFill>
          <a:ln w="19050">
            <a:solidFill>
              <a:srgbClr val="FFFFFF"/>
            </a:solidFill>
            <a:prstDash val="solid"/>
          </a:ln>
        </p:spPr>
      </p:sp>
      <p:sp>
        <p:nvSpPr>
          <p:cNvPr id="7" name="Text 5"/>
          <p:cNvSpPr/>
          <p:nvPr/>
        </p:nvSpPr>
        <p:spPr>
          <a:xfrm>
            <a:off x="777240" y="2221992"/>
            <a:ext cx="137160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2013</a:t>
            </a:r>
            <a:endParaRPr lang="en-US" sz="1500" dirty="0"/>
          </a:p>
        </p:txBody>
      </p:sp>
      <p:sp>
        <p:nvSpPr>
          <p:cNvPr id="8" name="Text 6"/>
          <p:cNvSpPr/>
          <p:nvPr/>
        </p:nvSpPr>
        <p:spPr>
          <a:xfrm>
            <a:off x="640080" y="2953512"/>
            <a:ext cx="1645920" cy="685800"/>
          </a:xfrm>
          <a:prstGeom prst="rect">
            <a:avLst/>
          </a:prstGeom>
          <a:noFill/>
          <a:ln/>
        </p:spPr>
        <p:txBody>
          <a:bodyPr wrap="square" lIns="0" tIns="0" rIns="0" bIns="0" rtlCol="0" anchor="ctr"/>
          <a:lstStyle/>
          <a:p>
            <a:pPr algn="ctr" indent="0" marL="0">
              <a:lnSpc>
                <a:spcPct val="105000"/>
              </a:lnSpc>
              <a:buNone/>
            </a:pPr>
            <a:r>
              <a:rPr lang="en-US" sz="1050" dirty="0">
                <a:solidFill>
                  <a:srgbClr val="5B6B8C"/>
                </a:solidFill>
                <a:latin typeface="Calibri" pitchFamily="34" charset="0"/>
                <a:ea typeface="Calibri" pitchFamily="34" charset="-122"/>
                <a:cs typeface="Calibri" pitchFamily="34" charset="-120"/>
              </a:rPr>
              <a:t>.NET Framework 4.5.2</a:t>
            </a:r>
            <a:endParaRPr lang="en-US" sz="1050" dirty="0"/>
          </a:p>
          <a:p>
            <a:pPr algn="ctr" indent="0" marL="0">
              <a:lnSpc>
                <a:spcPct val="105000"/>
              </a:lnSpc>
              <a:buNone/>
            </a:pPr>
            <a:r>
              <a:rPr lang="en-US" sz="1050" dirty="0">
                <a:solidFill>
                  <a:srgbClr val="5B6B8C"/>
                </a:solidFill>
                <a:latin typeface="Calibri" pitchFamily="34" charset="0"/>
                <a:ea typeface="Calibri" pitchFamily="34" charset="-122"/>
                <a:cs typeface="Calibri" pitchFamily="34" charset="-120"/>
              </a:rPr>
              <a:t>yayınlandı</a:t>
            </a:r>
            <a:endParaRPr lang="en-US" sz="1050" dirty="0"/>
          </a:p>
        </p:txBody>
      </p:sp>
      <p:sp>
        <p:nvSpPr>
          <p:cNvPr id="9" name="Shape 7"/>
          <p:cNvSpPr/>
          <p:nvPr/>
        </p:nvSpPr>
        <p:spPr>
          <a:xfrm>
            <a:off x="4489704" y="2706624"/>
            <a:ext cx="164592" cy="164592"/>
          </a:xfrm>
          <a:prstGeom prst="ellipse">
            <a:avLst/>
          </a:prstGeom>
          <a:solidFill>
            <a:srgbClr val="B85042"/>
          </a:solidFill>
          <a:ln w="19050">
            <a:solidFill>
              <a:srgbClr val="FFFFFF"/>
            </a:solidFill>
            <a:prstDash val="solid"/>
          </a:ln>
        </p:spPr>
      </p:sp>
      <p:sp>
        <p:nvSpPr>
          <p:cNvPr id="10" name="Text 8"/>
          <p:cNvSpPr/>
          <p:nvPr/>
        </p:nvSpPr>
        <p:spPr>
          <a:xfrm>
            <a:off x="3886200" y="2221992"/>
            <a:ext cx="137160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2022</a:t>
            </a:r>
            <a:endParaRPr lang="en-US" sz="1500" dirty="0"/>
          </a:p>
        </p:txBody>
      </p:sp>
      <p:sp>
        <p:nvSpPr>
          <p:cNvPr id="11" name="Text 9"/>
          <p:cNvSpPr/>
          <p:nvPr/>
        </p:nvSpPr>
        <p:spPr>
          <a:xfrm>
            <a:off x="3749040" y="2953512"/>
            <a:ext cx="1645920" cy="685800"/>
          </a:xfrm>
          <a:prstGeom prst="rect">
            <a:avLst/>
          </a:prstGeom>
          <a:noFill/>
          <a:ln/>
        </p:spPr>
        <p:txBody>
          <a:bodyPr wrap="square" lIns="0" tIns="0" rIns="0" bIns="0" rtlCol="0" anchor="ctr"/>
          <a:lstStyle/>
          <a:p>
            <a:pPr algn="ctr" indent="0" marL="0">
              <a:lnSpc>
                <a:spcPct val="105000"/>
              </a:lnSpc>
              <a:buNone/>
            </a:pPr>
            <a:r>
              <a:rPr lang="en-US" sz="1050" dirty="0">
                <a:solidFill>
                  <a:srgbClr val="5B6B8C"/>
                </a:solidFill>
                <a:latin typeface="Calibri" pitchFamily="34" charset="0"/>
                <a:ea typeface="Calibri" pitchFamily="34" charset="-122"/>
                <a:cs typeface="Calibri" pitchFamily="34" charset="-120"/>
              </a:rPr>
              <a:t>Microsoft desteği</a:t>
            </a:r>
            <a:endParaRPr lang="en-US" sz="1050" dirty="0"/>
          </a:p>
          <a:p>
            <a:pPr algn="ctr" indent="0" marL="0">
              <a:lnSpc>
                <a:spcPct val="105000"/>
              </a:lnSpc>
              <a:buNone/>
            </a:pPr>
            <a:r>
              <a:rPr lang="en-US" sz="1050" dirty="0">
                <a:solidFill>
                  <a:srgbClr val="5B6B8C"/>
                </a:solidFill>
                <a:latin typeface="Calibri" pitchFamily="34" charset="0"/>
                <a:ea typeface="Calibri" pitchFamily="34" charset="-122"/>
                <a:cs typeface="Calibri" pitchFamily="34" charset="-120"/>
              </a:rPr>
              <a:t>resmî olarak bitti</a:t>
            </a:r>
            <a:endParaRPr lang="en-US" sz="1050" dirty="0"/>
          </a:p>
        </p:txBody>
      </p:sp>
      <p:sp>
        <p:nvSpPr>
          <p:cNvPr id="12" name="Shape 10"/>
          <p:cNvSpPr/>
          <p:nvPr/>
        </p:nvSpPr>
        <p:spPr>
          <a:xfrm>
            <a:off x="7690104" y="2706624"/>
            <a:ext cx="164592" cy="164592"/>
          </a:xfrm>
          <a:prstGeom prst="ellipse">
            <a:avLst/>
          </a:prstGeom>
          <a:solidFill>
            <a:srgbClr val="B85042"/>
          </a:solidFill>
          <a:ln w="19050">
            <a:solidFill>
              <a:srgbClr val="FFFFFF"/>
            </a:solidFill>
            <a:prstDash val="solid"/>
          </a:ln>
        </p:spPr>
      </p:sp>
      <p:sp>
        <p:nvSpPr>
          <p:cNvPr id="13" name="Text 11"/>
          <p:cNvSpPr/>
          <p:nvPr/>
        </p:nvSpPr>
        <p:spPr>
          <a:xfrm>
            <a:off x="7086600" y="2221992"/>
            <a:ext cx="137160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2026</a:t>
            </a:r>
            <a:endParaRPr lang="en-US" sz="1500" dirty="0"/>
          </a:p>
        </p:txBody>
      </p:sp>
      <p:sp>
        <p:nvSpPr>
          <p:cNvPr id="14" name="Text 12"/>
          <p:cNvSpPr/>
          <p:nvPr/>
        </p:nvSpPr>
        <p:spPr>
          <a:xfrm>
            <a:off x="6949440" y="2953512"/>
            <a:ext cx="1645920" cy="685800"/>
          </a:xfrm>
          <a:prstGeom prst="rect">
            <a:avLst/>
          </a:prstGeom>
          <a:noFill/>
          <a:ln/>
        </p:spPr>
        <p:txBody>
          <a:bodyPr wrap="square" lIns="0" tIns="0" rIns="0" bIns="0" rtlCol="0" anchor="ctr"/>
          <a:lstStyle/>
          <a:p>
            <a:pPr algn="ctr" indent="0" marL="0">
              <a:lnSpc>
                <a:spcPct val="105000"/>
              </a:lnSpc>
              <a:buNone/>
            </a:pPr>
            <a:r>
              <a:rPr lang="en-US" sz="1050" dirty="0">
                <a:solidFill>
                  <a:srgbClr val="5B6B8C"/>
                </a:solidFill>
                <a:latin typeface="Calibri" pitchFamily="34" charset="0"/>
                <a:ea typeface="Calibri" pitchFamily="34" charset="-122"/>
                <a:cs typeface="Calibri" pitchFamily="34" charset="-120"/>
              </a:rPr>
              <a:t>Servis hâlâ üretimde —</a:t>
            </a:r>
            <a:endParaRPr lang="en-US" sz="1050" dirty="0"/>
          </a:p>
          <a:p>
            <a:pPr algn="ctr" indent="0" marL="0">
              <a:lnSpc>
                <a:spcPct val="105000"/>
              </a:lnSpc>
              <a:buNone/>
            </a:pPr>
            <a:r>
              <a:rPr lang="en-US" sz="1050" dirty="0">
                <a:solidFill>
                  <a:srgbClr val="5B6B8C"/>
                </a:solidFill>
                <a:latin typeface="Calibri" pitchFamily="34" charset="0"/>
                <a:ea typeface="Calibri" pitchFamily="34" charset="-122"/>
                <a:cs typeface="Calibri" pitchFamily="34" charset="-120"/>
              </a:rPr>
              <a:t>güvenlik yaması yok</a:t>
            </a:r>
            <a:endParaRPr lang="en-US" sz="1050" dirty="0"/>
          </a:p>
        </p:txBody>
      </p:sp>
      <p:sp>
        <p:nvSpPr>
          <p:cNvPr id="15" name="Shape 13"/>
          <p:cNvSpPr/>
          <p:nvPr/>
        </p:nvSpPr>
        <p:spPr>
          <a:xfrm>
            <a:off x="10799064" y="2706624"/>
            <a:ext cx="164592" cy="164592"/>
          </a:xfrm>
          <a:prstGeom prst="ellipse">
            <a:avLst/>
          </a:prstGeom>
          <a:solidFill>
            <a:srgbClr val="028090"/>
          </a:solidFill>
          <a:ln w="19050">
            <a:solidFill>
              <a:srgbClr val="FFFFFF"/>
            </a:solidFill>
            <a:prstDash val="solid"/>
          </a:ln>
        </p:spPr>
      </p:sp>
      <p:sp>
        <p:nvSpPr>
          <p:cNvPr id="16" name="Text 14"/>
          <p:cNvSpPr/>
          <p:nvPr/>
        </p:nvSpPr>
        <p:spPr>
          <a:xfrm>
            <a:off x="10195560" y="2221992"/>
            <a:ext cx="137160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a:t>
            </a:r>
            <a:endParaRPr lang="en-US" sz="1500" dirty="0"/>
          </a:p>
        </p:txBody>
      </p:sp>
      <p:sp>
        <p:nvSpPr>
          <p:cNvPr id="17" name="Text 15"/>
          <p:cNvSpPr/>
          <p:nvPr/>
        </p:nvSpPr>
        <p:spPr>
          <a:xfrm>
            <a:off x="10058400" y="2953512"/>
            <a:ext cx="1645920" cy="685800"/>
          </a:xfrm>
          <a:prstGeom prst="rect">
            <a:avLst/>
          </a:prstGeom>
          <a:noFill/>
          <a:ln/>
        </p:spPr>
        <p:txBody>
          <a:bodyPr wrap="square" lIns="0" tIns="0" rIns="0" bIns="0" rtlCol="0" anchor="ctr"/>
          <a:lstStyle/>
          <a:p>
            <a:pPr algn="ctr" indent="0" marL="0">
              <a:lnSpc>
                <a:spcPct val="105000"/>
              </a:lnSpc>
              <a:buNone/>
            </a:pPr>
            <a:r>
              <a:rPr lang="en-US" sz="1050" dirty="0">
                <a:solidFill>
                  <a:srgbClr val="5B6B8C"/>
                </a:solidFill>
                <a:latin typeface="Calibri" pitchFamily="34" charset="0"/>
                <a:ea typeface="Calibri" pitchFamily="34" charset="-122"/>
                <a:cs typeface="Calibri" pitchFamily="34" charset="-120"/>
              </a:rPr>
              <a:t>dbs-platform:</a:t>
            </a:r>
            <a:endParaRPr lang="en-US" sz="1050" dirty="0"/>
          </a:p>
          <a:p>
            <a:pPr algn="ctr" indent="0" marL="0">
              <a:lnSpc>
                <a:spcPct val="105000"/>
              </a:lnSpc>
              <a:buNone/>
            </a:pPr>
            <a:r>
              <a:rPr lang="en-US" sz="1050" dirty="0">
                <a:solidFill>
                  <a:srgbClr val="5B6B8C"/>
                </a:solidFill>
                <a:latin typeface="Calibri" pitchFamily="34" charset="0"/>
                <a:ea typeface="Calibri" pitchFamily="34" charset="-122"/>
                <a:cs typeface="Calibri" pitchFamily="34" charset="-120"/>
              </a:rPr>
              <a:t>yeniden başlama fırsatı</a:t>
            </a:r>
            <a:endParaRPr lang="en-US" sz="1050" dirty="0"/>
          </a:p>
        </p:txBody>
      </p:sp>
      <p:sp>
        <p:nvSpPr>
          <p:cNvPr id="18" name="Shape 16"/>
          <p:cNvSpPr/>
          <p:nvPr/>
        </p:nvSpPr>
        <p:spPr>
          <a:xfrm>
            <a:off x="548640" y="4160520"/>
            <a:ext cx="11064240" cy="1737360"/>
          </a:xfrm>
          <a:prstGeom prst="roundRect">
            <a:avLst>
              <a:gd name="adj" fmla="val 4211"/>
            </a:avLst>
          </a:prstGeom>
          <a:solidFill>
            <a:srgbClr val="1E2761"/>
          </a:solidFill>
          <a:ln/>
        </p:spPr>
      </p:sp>
      <p:sp>
        <p:nvSpPr>
          <p:cNvPr id="19" name="Shape 17"/>
          <p:cNvSpPr/>
          <p:nvPr/>
        </p:nvSpPr>
        <p:spPr>
          <a:xfrm>
            <a:off x="950976" y="4745736"/>
            <a:ext cx="566928" cy="566928"/>
          </a:xfrm>
          <a:prstGeom prst="ellipse">
            <a:avLst/>
          </a:prstGeom>
          <a:solidFill>
            <a:srgbClr val="02C39A"/>
          </a:solidFill>
          <a:ln/>
        </p:spPr>
      </p:sp>
      <p:sp>
        <p:nvSpPr>
          <p:cNvPr id="20" name="Text 18"/>
          <p:cNvSpPr/>
          <p:nvPr/>
        </p:nvSpPr>
        <p:spPr>
          <a:xfrm>
            <a:off x="950976" y="4745736"/>
            <a:ext cx="566928" cy="566928"/>
          </a:xfrm>
          <a:prstGeom prst="rect">
            <a:avLst/>
          </a:prstGeom>
          <a:noFill/>
          <a:ln/>
        </p:spPr>
        <p:txBody>
          <a:bodyPr wrap="square" lIns="0" tIns="0" rIns="0" bIns="0" rtlCol="0" anchor="ctr"/>
          <a:lstStyle/>
          <a:p>
            <a:pPr algn="ctr" indent="0" marL="0">
              <a:buNone/>
            </a:pPr>
            <a:r>
              <a:rPr lang="en-US" sz="2600" b="1" dirty="0">
                <a:solidFill>
                  <a:srgbClr val="141A46"/>
                </a:solidFill>
                <a:latin typeface="Calibri" pitchFamily="34" charset="0"/>
                <a:ea typeface="Calibri" pitchFamily="34" charset="-122"/>
                <a:cs typeface="Calibri" pitchFamily="34" charset="-120"/>
              </a:rPr>
              <a:t>!</a:t>
            </a:r>
            <a:endParaRPr lang="en-US" sz="2600" dirty="0"/>
          </a:p>
        </p:txBody>
      </p:sp>
      <p:sp>
        <p:nvSpPr>
          <p:cNvPr id="21" name="Text 19"/>
          <p:cNvSpPr/>
          <p:nvPr/>
        </p:nvSpPr>
        <p:spPr>
          <a:xfrm>
            <a:off x="1691640" y="4370832"/>
            <a:ext cx="969264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Kural: yeşil alan projede en güncel LTS'ten başla</a:t>
            </a:r>
            <a:endParaRPr lang="en-US" sz="1600" dirty="0"/>
          </a:p>
        </p:txBody>
      </p:sp>
      <p:sp>
        <p:nvSpPr>
          <p:cNvPr id="22" name="Text 20"/>
          <p:cNvSpPr/>
          <p:nvPr/>
        </p:nvSpPr>
        <p:spPr>
          <a:xfrm>
            <a:off x="1691640" y="4754880"/>
            <a:ext cx="9601200" cy="1005840"/>
          </a:xfrm>
          <a:prstGeom prst="rect">
            <a:avLst/>
          </a:prstGeom>
          <a:noFill/>
          <a:ln/>
        </p:spPr>
        <p:txBody>
          <a:bodyPr wrap="square" lIns="0" tIns="0" rIns="0" bIns="0" rtlCol="0" anchor="ctr"/>
          <a:lstStyle/>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Bu proje bir defalık bir servis değil; kalan 11 legacy modül için referans mimari. Seçilen sürümün destek penceresi, o modüllerin taşınma süresini de kapsamalı.</a:t>
            </a:r>
            <a:endParaRPr lang="en-US" sz="1300" dirty="0"/>
          </a:p>
        </p:txBody>
      </p:sp>
      <p:sp>
        <p:nvSpPr>
          <p:cNvPr id="23" name="Text 2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24" name="Text 22"/>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KARAR ÇERÇEVESI</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Üç başlıkta gerekçelendirme</a:t>
            </a:r>
            <a:endParaRPr lang="en-US" sz="2800" dirty="0"/>
          </a:p>
        </p:txBody>
      </p:sp>
      <p:sp>
        <p:nvSpPr>
          <p:cNvPr id="4" name="Shape 2"/>
          <p:cNvSpPr/>
          <p:nvPr/>
        </p:nvSpPr>
        <p:spPr>
          <a:xfrm>
            <a:off x="548640" y="1691640"/>
            <a:ext cx="3520440" cy="4160520"/>
          </a:xfrm>
          <a:prstGeom prst="roundRect">
            <a:avLst>
              <a:gd name="adj" fmla="val 2338"/>
            </a:avLst>
          </a:prstGeom>
          <a:solidFill>
            <a:srgbClr val="FFFFFF"/>
          </a:solidFill>
          <a:ln w="12700">
            <a:solidFill>
              <a:srgbClr val="E1E7F3"/>
            </a:solidFill>
            <a:prstDash val="solid"/>
          </a:ln>
          <a:effectLst>
            <a:outerShdw sx="100000" sy="100000" kx="0" ky="0" algn="bl" rotWithShape="0" blurRad="101600" dist="38100" dir="5400000">
              <a:srgbClr val="1E2761">
                <a:alpha val="12000"/>
              </a:srgbClr>
            </a:outerShdw>
          </a:effectLst>
        </p:spPr>
      </p:sp>
      <p:sp>
        <p:nvSpPr>
          <p:cNvPr id="5" name="Shape 3"/>
          <p:cNvSpPr/>
          <p:nvPr/>
        </p:nvSpPr>
        <p:spPr>
          <a:xfrm>
            <a:off x="1920240" y="1988820"/>
            <a:ext cx="777240" cy="777240"/>
          </a:xfrm>
          <a:prstGeom prst="ellipse">
            <a:avLst/>
          </a:prstGeom>
          <a:solidFill>
            <a:srgbClr val="1E2761"/>
          </a:solidFill>
          <a:ln/>
        </p:spPr>
      </p:sp>
      <p:sp>
        <p:nvSpPr>
          <p:cNvPr id="6" name="Text 4"/>
          <p:cNvSpPr/>
          <p:nvPr/>
        </p:nvSpPr>
        <p:spPr>
          <a:xfrm>
            <a:off x="1920240" y="198882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777240" y="1892808"/>
            <a:ext cx="914400" cy="365760"/>
          </a:xfrm>
          <a:prstGeom prst="rect">
            <a:avLst/>
          </a:prstGeom>
          <a:noFill/>
          <a:ln/>
        </p:spPr>
        <p:txBody>
          <a:bodyPr wrap="square" lIns="0" tIns="0" rIns="0" bIns="0" rtlCol="0" anchor="ctr"/>
          <a:lstStyle/>
          <a:p>
            <a:pPr indent="0" marL="0">
              <a:buNone/>
            </a:pPr>
            <a:r>
              <a:rPr lang="en-US" sz="1500" b="1" dirty="0">
                <a:solidFill>
                  <a:srgbClr val="C9D2E8"/>
                </a:solidFill>
                <a:latin typeface="Cambria" pitchFamily="34" charset="0"/>
                <a:ea typeface="Cambria" pitchFamily="34" charset="-122"/>
                <a:cs typeface="Cambria" pitchFamily="34" charset="-120"/>
              </a:rPr>
              <a:t>01</a:t>
            </a:r>
            <a:endParaRPr lang="en-US" sz="1500" dirty="0"/>
          </a:p>
        </p:txBody>
      </p:sp>
      <p:sp>
        <p:nvSpPr>
          <p:cNvPr id="8" name="Text 6"/>
          <p:cNvSpPr/>
          <p:nvPr/>
        </p:nvSpPr>
        <p:spPr>
          <a:xfrm>
            <a:off x="822960" y="2926080"/>
            <a:ext cx="2971800" cy="68580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Destek Süresi</a:t>
            </a:r>
            <a:endParaRPr lang="en-US" sz="1700" dirty="0"/>
          </a:p>
        </p:txBody>
      </p:sp>
      <p:sp>
        <p:nvSpPr>
          <p:cNvPr id="9" name="Text 7"/>
          <p:cNvSpPr/>
          <p:nvPr/>
        </p:nvSpPr>
        <p:spPr>
          <a:xfrm>
            <a:off x="868680" y="3657600"/>
            <a:ext cx="2880360" cy="2011680"/>
          </a:xfrm>
          <a:prstGeom prst="rect">
            <a:avLst/>
          </a:prstGeom>
          <a:noFill/>
          <a:ln/>
        </p:spPr>
        <p:txBody>
          <a:bodyPr wrap="square" lIns="0" tIns="0" rIns="0" bIns="0" rtlCol="0" anchor="ctr"/>
          <a:lstStyle/>
          <a:p>
            <a:pPr algn="ctr" indent="0" marL="0">
              <a:lnSpc>
                <a:spcPct val="125000"/>
              </a:lnSpc>
              <a:buNone/>
            </a:pPr>
            <a:r>
              <a:rPr lang="en-US" sz="1250" dirty="0">
                <a:solidFill>
                  <a:srgbClr val="1B2440"/>
                </a:solidFill>
                <a:latin typeface="Calibri" pitchFamily="34" charset="0"/>
                <a:ea typeface="Calibri" pitchFamily="34" charset="-122"/>
                <a:cs typeface="Calibri" pitchFamily="34" charset="-120"/>
              </a:rPr>
              <a:t>Java 25 ve Spring Boot 4, seçim anında en uzun destek penceresine sahip kombinasyon. On bir modül daha taşınırken sürüm geçişiyle tekrar uğraşmayacağız.</a:t>
            </a:r>
            <a:endParaRPr lang="en-US" sz="1250" dirty="0"/>
          </a:p>
        </p:txBody>
      </p:sp>
      <p:sp>
        <p:nvSpPr>
          <p:cNvPr id="10" name="Shape 8"/>
          <p:cNvSpPr/>
          <p:nvPr/>
        </p:nvSpPr>
        <p:spPr>
          <a:xfrm>
            <a:off x="4343400" y="1691640"/>
            <a:ext cx="3520440" cy="4160520"/>
          </a:xfrm>
          <a:prstGeom prst="roundRect">
            <a:avLst>
              <a:gd name="adj" fmla="val 2338"/>
            </a:avLst>
          </a:prstGeom>
          <a:solidFill>
            <a:srgbClr val="FFFFFF"/>
          </a:solidFill>
          <a:ln w="12700">
            <a:solidFill>
              <a:srgbClr val="E1E7F3"/>
            </a:solidFill>
            <a:prstDash val="solid"/>
          </a:ln>
          <a:effectLst>
            <a:outerShdw sx="100000" sy="100000" kx="0" ky="0" algn="bl" rotWithShape="0" blurRad="101600" dist="38100" dir="5400000">
              <a:srgbClr val="1E2761">
                <a:alpha val="12000"/>
              </a:srgbClr>
            </a:outerShdw>
          </a:effectLst>
        </p:spPr>
      </p:sp>
      <p:sp>
        <p:nvSpPr>
          <p:cNvPr id="11" name="Shape 9"/>
          <p:cNvSpPr/>
          <p:nvPr/>
        </p:nvSpPr>
        <p:spPr>
          <a:xfrm>
            <a:off x="5715000" y="1988820"/>
            <a:ext cx="777240" cy="777240"/>
          </a:xfrm>
          <a:prstGeom prst="ellipse">
            <a:avLst/>
          </a:prstGeom>
          <a:solidFill>
            <a:srgbClr val="02C39A"/>
          </a:solidFill>
          <a:ln/>
        </p:spPr>
      </p:sp>
      <p:sp>
        <p:nvSpPr>
          <p:cNvPr id="12" name="Text 10"/>
          <p:cNvSpPr/>
          <p:nvPr/>
        </p:nvSpPr>
        <p:spPr>
          <a:xfrm>
            <a:off x="5715000" y="198882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 }</a:t>
            </a:r>
            <a:endParaRPr lang="en-US" sz="2000" dirty="0"/>
          </a:p>
        </p:txBody>
      </p:sp>
      <p:sp>
        <p:nvSpPr>
          <p:cNvPr id="13" name="Text 11"/>
          <p:cNvSpPr/>
          <p:nvPr/>
        </p:nvSpPr>
        <p:spPr>
          <a:xfrm>
            <a:off x="4572000" y="1892808"/>
            <a:ext cx="914400" cy="365760"/>
          </a:xfrm>
          <a:prstGeom prst="rect">
            <a:avLst/>
          </a:prstGeom>
          <a:noFill/>
          <a:ln/>
        </p:spPr>
        <p:txBody>
          <a:bodyPr wrap="square" lIns="0" tIns="0" rIns="0" bIns="0" rtlCol="0" anchor="ctr"/>
          <a:lstStyle/>
          <a:p>
            <a:pPr indent="0" marL="0">
              <a:buNone/>
            </a:pPr>
            <a:r>
              <a:rPr lang="en-US" sz="1500" b="1" dirty="0">
                <a:solidFill>
                  <a:srgbClr val="C9D2E8"/>
                </a:solidFill>
                <a:latin typeface="Cambria" pitchFamily="34" charset="0"/>
                <a:ea typeface="Cambria" pitchFamily="34" charset="-122"/>
                <a:cs typeface="Cambria" pitchFamily="34" charset="-120"/>
              </a:rPr>
              <a:t>02</a:t>
            </a:r>
            <a:endParaRPr lang="en-US" sz="1500" dirty="0"/>
          </a:p>
        </p:txBody>
      </p:sp>
      <p:sp>
        <p:nvSpPr>
          <p:cNvPr id="14" name="Text 12"/>
          <p:cNvSpPr/>
          <p:nvPr/>
        </p:nvSpPr>
        <p:spPr>
          <a:xfrm>
            <a:off x="4617720" y="2926080"/>
            <a:ext cx="2971800" cy="68580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Dile / Çerçeveye Dokunan Özellikler</a:t>
            </a:r>
            <a:endParaRPr lang="en-US" sz="1700" dirty="0"/>
          </a:p>
        </p:txBody>
      </p:sp>
      <p:sp>
        <p:nvSpPr>
          <p:cNvPr id="15" name="Text 13"/>
          <p:cNvSpPr/>
          <p:nvPr/>
        </p:nvSpPr>
        <p:spPr>
          <a:xfrm>
            <a:off x="4663440" y="3657600"/>
            <a:ext cx="2880360" cy="2011680"/>
          </a:xfrm>
          <a:prstGeom prst="rect">
            <a:avLst/>
          </a:prstGeom>
          <a:noFill/>
          <a:ln/>
        </p:spPr>
        <p:txBody>
          <a:bodyPr wrap="square" lIns="0" tIns="0" rIns="0" bIns="0" rtlCol="0" anchor="ctr"/>
          <a:lstStyle/>
          <a:p>
            <a:pPr algn="ctr" indent="0" marL="0">
              <a:lnSpc>
                <a:spcPct val="125000"/>
              </a:lnSpc>
              <a:buNone/>
            </a:pPr>
            <a:r>
              <a:rPr lang="en-US" sz="1250" dirty="0">
                <a:solidFill>
                  <a:srgbClr val="1B2440"/>
                </a:solidFill>
                <a:latin typeface="Calibri" pitchFamily="34" charset="0"/>
                <a:ea typeface="Calibri" pitchFamily="34" charset="-122"/>
                <a:cs typeface="Calibri" pitchFamily="34" charset="-120"/>
              </a:rPr>
              <a:t>Sanal thread'ler, sealed interface + pattern matching, çekirdeğe taşınan resilience — bunlar POC kodunda gerçekten kullanılıyor; kağıt üzerinde kalmıyor.</a:t>
            </a:r>
            <a:endParaRPr lang="en-US" sz="1250" dirty="0"/>
          </a:p>
        </p:txBody>
      </p:sp>
      <p:sp>
        <p:nvSpPr>
          <p:cNvPr id="16" name="Shape 14"/>
          <p:cNvSpPr/>
          <p:nvPr/>
        </p:nvSpPr>
        <p:spPr>
          <a:xfrm>
            <a:off x="8138160" y="1691640"/>
            <a:ext cx="3520440" cy="4160520"/>
          </a:xfrm>
          <a:prstGeom prst="roundRect">
            <a:avLst>
              <a:gd name="adj" fmla="val 2338"/>
            </a:avLst>
          </a:prstGeom>
          <a:solidFill>
            <a:srgbClr val="FFFFFF"/>
          </a:solidFill>
          <a:ln w="12700">
            <a:solidFill>
              <a:srgbClr val="E1E7F3"/>
            </a:solidFill>
            <a:prstDash val="solid"/>
          </a:ln>
          <a:effectLst>
            <a:outerShdw sx="100000" sy="100000" kx="0" ky="0" algn="bl" rotWithShape="0" blurRad="101600" dist="38100" dir="5400000">
              <a:srgbClr val="1E2761">
                <a:alpha val="12000"/>
              </a:srgbClr>
            </a:outerShdw>
          </a:effectLst>
        </p:spPr>
      </p:sp>
      <p:sp>
        <p:nvSpPr>
          <p:cNvPr id="17" name="Shape 15"/>
          <p:cNvSpPr/>
          <p:nvPr/>
        </p:nvSpPr>
        <p:spPr>
          <a:xfrm>
            <a:off x="9509760" y="1988820"/>
            <a:ext cx="777240" cy="777240"/>
          </a:xfrm>
          <a:prstGeom prst="ellipse">
            <a:avLst/>
          </a:prstGeom>
          <a:solidFill>
            <a:srgbClr val="1E2761"/>
          </a:solidFill>
          <a:ln/>
        </p:spPr>
      </p:sp>
      <p:sp>
        <p:nvSpPr>
          <p:cNvPr id="18" name="Text 16"/>
          <p:cNvSpPr/>
          <p:nvPr/>
        </p:nvSpPr>
        <p:spPr>
          <a:xfrm>
            <a:off x="9509760" y="198882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9" name="Text 17"/>
          <p:cNvSpPr/>
          <p:nvPr/>
        </p:nvSpPr>
        <p:spPr>
          <a:xfrm>
            <a:off x="8366760" y="1892808"/>
            <a:ext cx="914400" cy="365760"/>
          </a:xfrm>
          <a:prstGeom prst="rect">
            <a:avLst/>
          </a:prstGeom>
          <a:noFill/>
          <a:ln/>
        </p:spPr>
        <p:txBody>
          <a:bodyPr wrap="square" lIns="0" tIns="0" rIns="0" bIns="0" rtlCol="0" anchor="ctr"/>
          <a:lstStyle/>
          <a:p>
            <a:pPr indent="0" marL="0">
              <a:buNone/>
            </a:pPr>
            <a:r>
              <a:rPr lang="en-US" sz="1500" b="1" dirty="0">
                <a:solidFill>
                  <a:srgbClr val="C9D2E8"/>
                </a:solidFill>
                <a:latin typeface="Cambria" pitchFamily="34" charset="0"/>
                <a:ea typeface="Cambria" pitchFamily="34" charset="-122"/>
                <a:cs typeface="Cambria" pitchFamily="34" charset="-120"/>
              </a:rPr>
              <a:t>03</a:t>
            </a:r>
            <a:endParaRPr lang="en-US" sz="1500" dirty="0"/>
          </a:p>
        </p:txBody>
      </p:sp>
      <p:sp>
        <p:nvSpPr>
          <p:cNvPr id="20" name="Text 18"/>
          <p:cNvSpPr/>
          <p:nvPr/>
        </p:nvSpPr>
        <p:spPr>
          <a:xfrm>
            <a:off x="8412480" y="2926080"/>
            <a:ext cx="2971800" cy="68580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Çalışma Zamanı Ekonomisi</a:t>
            </a:r>
            <a:endParaRPr lang="en-US" sz="1700" dirty="0"/>
          </a:p>
        </p:txBody>
      </p:sp>
      <p:sp>
        <p:nvSpPr>
          <p:cNvPr id="21" name="Text 19"/>
          <p:cNvSpPr/>
          <p:nvPr/>
        </p:nvSpPr>
        <p:spPr>
          <a:xfrm>
            <a:off x="8458200" y="3657600"/>
            <a:ext cx="2880360" cy="2011680"/>
          </a:xfrm>
          <a:prstGeom prst="rect">
            <a:avLst/>
          </a:prstGeom>
          <a:noFill/>
          <a:ln/>
        </p:spPr>
        <p:txBody>
          <a:bodyPr wrap="square" lIns="0" tIns="0" rIns="0" bIns="0" rtlCol="0" anchor="ctr"/>
          <a:lstStyle/>
          <a:p>
            <a:pPr algn="ctr" indent="0" marL="0">
              <a:lnSpc>
                <a:spcPct val="125000"/>
              </a:lnSpc>
              <a:buNone/>
            </a:pPr>
            <a:r>
              <a:rPr lang="en-US" sz="1250" dirty="0">
                <a:solidFill>
                  <a:srgbClr val="1B2440"/>
                </a:solidFill>
                <a:latin typeface="Calibri" pitchFamily="34" charset="0"/>
                <a:ea typeface="Calibri" pitchFamily="34" charset="-122"/>
                <a:cs typeface="Calibri" pitchFamily="34" charset="-120"/>
              </a:rPr>
              <a:t>Compact object headers, generational GC, AOT class loading — aynı donanımda daha az bellek, daha kısa başlangıç, daha kararlı duraklama süreleri.</a:t>
            </a:r>
            <a:endParaRPr lang="en-US" sz="1250" dirty="0"/>
          </a:p>
        </p:txBody>
      </p:sp>
      <p:sp>
        <p:nvSpPr>
          <p:cNvPr id="22" name="Text 2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23" name="Text 21"/>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SEÇENEK DEĞERLENDIRMESI</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Neden Java 17/21 veya Spring Boot 3 değil</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566160"/>
        </p:xfrm>
        <a:graphic>
          <a:graphicData uri="http://schemas.openxmlformats.org/drawingml/2006/table">
            <a:tbl>
              <a:tblPr/>
              <a:tblGrid>
                <a:gridCol w="1920240"/>
                <a:gridCol w="1371600"/>
                <a:gridCol w="777240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Seçenek</a:t>
                      </a:r>
                      <a:endParaRPr lang="en-US" sz="125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Tip</a:t>
                      </a:r>
                      <a:endParaRPr lang="en-US" sz="125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Sonuç</a:t>
                      </a:r>
                      <a:endParaRPr lang="en-US" sz="125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solidFill>
                      <a:srgbClr val="1E2761"/>
                    </a:solidFill>
                  </a:tcPr>
                </a:tc>
              </a:tr>
              <a:tr h="777240">
                <a:tc>
                  <a:txBody>
                    <a:bodyPr/>
                    <a:lstStyle/>
                    <a:p>
                      <a:pPr indent="0" marL="0">
                        <a:buNone/>
                      </a:pPr>
                      <a:r>
                        <a:rPr lang="en-US" sz="1200" b="1" dirty="0">
                          <a:solidFill>
                            <a:srgbClr val="1B2440"/>
                          </a:solidFill>
                          <a:latin typeface="Calibri" pitchFamily="34" charset="0"/>
                          <a:ea typeface="Calibri" pitchFamily="34" charset="-122"/>
                          <a:cs typeface="Calibri" pitchFamily="34" charset="-120"/>
                        </a:rPr>
                        <a:t>Java 17 / 21</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dirty="0">
                          <a:solidFill>
                            <a:srgbClr val="5B6B8C"/>
                          </a:solidFill>
                          <a:latin typeface="Calibri" pitchFamily="34" charset="0"/>
                          <a:ea typeface="Calibri" pitchFamily="34" charset="-122"/>
                          <a:cs typeface="Calibri" pitchFamily="34" charset="-120"/>
                        </a:rPr>
                        <a:t>LTS</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dirty="0">
                          <a:solidFill>
                            <a:srgbClr val="1B2440"/>
                          </a:solidFill>
                          <a:latin typeface="Calibri" pitchFamily="34" charset="0"/>
                          <a:ea typeface="Calibri" pitchFamily="34" charset="-122"/>
                          <a:cs typeface="Calibri" pitchFamily="34" charset="-120"/>
                        </a:rPr>
                        <a:t>Çalışırdı — ama daha kısa destek penceresi; sanal thread'ler ve ScopedValue henüz olgunlaşmamış / finalize değil.</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777240">
                <a:tc>
                  <a:txBody>
                    <a:bodyPr/>
                    <a:lstStyle/>
                    <a:p>
                      <a:pPr indent="0" marL="0">
                        <a:buNone/>
                      </a:pPr>
                      <a:r>
                        <a:rPr lang="en-US" sz="1200" b="1" dirty="0">
                          <a:solidFill>
                            <a:srgbClr val="028090"/>
                          </a:solidFill>
                          <a:latin typeface="Calibri" pitchFamily="34" charset="0"/>
                          <a:ea typeface="Calibri" pitchFamily="34" charset="-122"/>
                          <a:cs typeface="Calibri" pitchFamily="34" charset="-120"/>
                        </a:rPr>
                        <a:t>Java 25 ✓</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dirty="0">
                          <a:solidFill>
                            <a:srgbClr val="5B6B8C"/>
                          </a:solidFill>
                          <a:latin typeface="Calibri" pitchFamily="34" charset="0"/>
                          <a:ea typeface="Calibri" pitchFamily="34" charset="-122"/>
                          <a:cs typeface="Calibri" pitchFamily="34" charset="-120"/>
                        </a:rPr>
                        <a:t>LTS</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b="1" dirty="0">
                          <a:solidFill>
                            <a:srgbClr val="1B2440"/>
                          </a:solidFill>
                          <a:latin typeface="Calibri" pitchFamily="34" charset="0"/>
                          <a:ea typeface="Calibri" pitchFamily="34" charset="-122"/>
                          <a:cs typeface="Calibri" pitchFamily="34" charset="-120"/>
                        </a:rPr>
                        <a:t>Seçilen. Uzun destek penceresi + olgunlaşmış sanal thread'ler + finalize edilmiş ScopedValue (JEP 506).</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777240">
                <a:tc>
                  <a:txBody>
                    <a:bodyPr/>
                    <a:lstStyle/>
                    <a:p>
                      <a:pPr indent="0" marL="0">
                        <a:buNone/>
                      </a:pPr>
                      <a:r>
                        <a:rPr lang="en-US" sz="1200" b="1" dirty="0">
                          <a:solidFill>
                            <a:srgbClr val="1B2440"/>
                          </a:solidFill>
                          <a:latin typeface="Calibri" pitchFamily="34" charset="0"/>
                          <a:ea typeface="Calibri" pitchFamily="34" charset="-122"/>
                          <a:cs typeface="Calibri" pitchFamily="34" charset="-120"/>
                        </a:rPr>
                        <a:t>Spring Boot 3.x</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dirty="0">
                          <a:solidFill>
                            <a:srgbClr val="5B6B8C"/>
                          </a:solidFill>
                          <a:latin typeface="Calibri" pitchFamily="34" charset="0"/>
                          <a:ea typeface="Calibri" pitchFamily="34" charset="-122"/>
                          <a:cs typeface="Calibri" pitchFamily="34" charset="-120"/>
                        </a:rPr>
                        <a:t>Bakım</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dirty="0">
                          <a:solidFill>
                            <a:srgbClr val="1B2440"/>
                          </a:solidFill>
                          <a:latin typeface="Calibri" pitchFamily="34" charset="0"/>
                          <a:ea typeface="Calibri" pitchFamily="34" charset="-122"/>
                          <a:cs typeface="Calibri" pitchFamily="34" charset="-120"/>
                        </a:rPr>
                        <a:t>Jakarta EE 10, Jackson 2, spring-retry ayrı bağımlılık. Çalışır ama büyümez — yeni büyük özellik gelmiyor.</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777240">
                <a:tc>
                  <a:txBody>
                    <a:bodyPr/>
                    <a:lstStyle/>
                    <a:p>
                      <a:pPr indent="0" marL="0">
                        <a:buNone/>
                      </a:pPr>
                      <a:r>
                        <a:rPr lang="en-US" sz="1200" b="1" dirty="0">
                          <a:solidFill>
                            <a:srgbClr val="028090"/>
                          </a:solidFill>
                          <a:latin typeface="Calibri" pitchFamily="34" charset="0"/>
                          <a:ea typeface="Calibri" pitchFamily="34" charset="-122"/>
                          <a:cs typeface="Calibri" pitchFamily="34" charset="-120"/>
                        </a:rPr>
                        <a:t>Spring Boot 4 ✓</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dirty="0">
                          <a:solidFill>
                            <a:srgbClr val="5B6B8C"/>
                          </a:solidFill>
                          <a:latin typeface="Calibri" pitchFamily="34" charset="0"/>
                          <a:ea typeface="Calibri" pitchFamily="34" charset="-122"/>
                          <a:cs typeface="Calibri" pitchFamily="34" charset="-120"/>
                        </a:rPr>
                        <a:t>Güncel majör</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b="1" dirty="0">
                          <a:solidFill>
                            <a:srgbClr val="1B2440"/>
                          </a:solidFill>
                          <a:latin typeface="Calibri" pitchFamily="34" charset="0"/>
                          <a:ea typeface="Calibri" pitchFamily="34" charset="-122"/>
                          <a:cs typeface="Calibri" pitchFamily="34" charset="-120"/>
                        </a:rPr>
                        <a:t>Seçilen. Jakarta EE 11, Jackson 3, çekirdekte dayanıklılık, modüler starter'lar, JSpecify null güvenliği. GA: 20 Kasım 2025.</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bl>
          </a:graphicData>
        </a:graphic>
      </p:graphicFrame>
      <p:sp>
        <p:nvSpPr>
          <p:cNvPr id="5" name="Shape 2"/>
          <p:cNvSpPr/>
          <p:nvPr/>
        </p:nvSpPr>
        <p:spPr>
          <a:xfrm>
            <a:off x="548640" y="5257800"/>
            <a:ext cx="11064240" cy="1051560"/>
          </a:xfrm>
          <a:prstGeom prst="roundRect">
            <a:avLst>
              <a:gd name="adj" fmla="val 6957"/>
            </a:avLst>
          </a:prstGeom>
          <a:solidFill>
            <a:srgbClr val="EAF7F2"/>
          </a:solidFill>
          <a:ln w="12700">
            <a:solidFill>
              <a:srgbClr val="02C39A"/>
            </a:solidFill>
            <a:prstDash val="solid"/>
          </a:ln>
        </p:spPr>
      </p:sp>
      <p:sp>
        <p:nvSpPr>
          <p:cNvPr id="6" name="Text 3"/>
          <p:cNvSpPr/>
          <p:nvPr/>
        </p:nvSpPr>
        <p:spPr>
          <a:xfrm>
            <a:off x="822960" y="5257800"/>
            <a:ext cx="10515600" cy="1051560"/>
          </a:xfrm>
          <a:prstGeom prst="rect">
            <a:avLst/>
          </a:prstGeom>
          <a:noFill/>
          <a:ln/>
        </p:spPr>
        <p:txBody>
          <a:bodyPr wrap="square" lIns="0" tIns="0" rIns="0" bIns="0" rtlCol="0" anchor="ctr"/>
          <a:lstStyle/>
          <a:p>
            <a:pPr indent="0" marL="0">
              <a:lnSpc>
                <a:spcPct val="118000"/>
              </a:lnSpc>
              <a:buNone/>
            </a:pPr>
            <a:r>
              <a:rPr lang="en-US" sz="1250" b="1" dirty="0">
                <a:solidFill>
                  <a:srgbClr val="028090"/>
                </a:solidFill>
                <a:latin typeface="Calibri" pitchFamily="34" charset="0"/>
                <a:ea typeface="Calibri" pitchFamily="34" charset="-122"/>
                <a:cs typeface="Calibri" pitchFamily="34" charset="-120"/>
              </a:rPr>
              <a:t>Jakarta EE 10 → 11 tek numara değişikliği değil: </a:t>
            </a:r>
            <a:pPr indent="0" marL="0">
              <a:lnSpc>
                <a:spcPct val="118000"/>
              </a:lnSpc>
              <a:buNone/>
            </a:pPr>
            <a:r>
              <a:rPr lang="en-US" sz="1250" dirty="0">
                <a:solidFill>
                  <a:srgbClr val="1B2440"/>
                </a:solidFill>
                <a:latin typeface="Calibri" pitchFamily="34" charset="0"/>
                <a:ea typeface="Calibri" pitchFamily="34" charset="-122"/>
                <a:cs typeface="Calibri" pitchFamily="34" charset="-120"/>
              </a:rPr>
              <a:t>Servlet 6.0→6.1, JPA 3.1→3.2 (Hibernate ORM 7.0 gerektirir), Bean Validation 3.0→3.1 birlikte yükseliyor. Bunu proje küçükken (3 modül) yapmak, 12 modülken yapmaktan ucuz.</a:t>
            </a:r>
            <a:endParaRPr lang="en-US" sz="1250" dirty="0"/>
          </a:p>
        </p:txBody>
      </p:sp>
      <p:sp>
        <p:nvSpPr>
          <p:cNvPr id="7" name="Text 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8" name="Text 5"/>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JAVA 25 · EŞZAMANLILIK</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Sanal Thread'ler — üretimde hazır</a:t>
            </a:r>
            <a:endParaRPr lang="en-US" sz="2800" dirty="0"/>
          </a:p>
        </p:txBody>
      </p:sp>
      <p:sp>
        <p:nvSpPr>
          <p:cNvPr id="4" name="Text 2"/>
          <p:cNvSpPr/>
          <p:nvPr/>
        </p:nvSpPr>
        <p:spPr>
          <a:xfrm>
            <a:off x="548640" y="1536192"/>
            <a:ext cx="539496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Model: Platform Thread vs Sanal Thread</a:t>
            </a:r>
            <a:endParaRPr lang="en-US" sz="1500" dirty="0"/>
          </a:p>
        </p:txBody>
      </p:sp>
      <p:sp>
        <p:nvSpPr>
          <p:cNvPr id="5" name="Shape 3"/>
          <p:cNvSpPr/>
          <p:nvPr/>
        </p:nvSpPr>
        <p:spPr>
          <a:xfrm>
            <a:off x="548640" y="1965960"/>
            <a:ext cx="5394960" cy="960120"/>
          </a:xfrm>
          <a:prstGeom prst="roundRect">
            <a:avLst>
              <a:gd name="adj" fmla="val 7619"/>
            </a:avLst>
          </a:prstGeom>
          <a:solidFill>
            <a:srgbClr val="FFFFFF"/>
          </a:solidFill>
          <a:ln w="12700">
            <a:solidFill>
              <a:srgbClr val="E1E7F3"/>
            </a:solidFill>
            <a:prstDash val="solid"/>
          </a:ln>
        </p:spPr>
      </p:sp>
      <p:sp>
        <p:nvSpPr>
          <p:cNvPr id="6" name="Shape 4"/>
          <p:cNvSpPr/>
          <p:nvPr/>
        </p:nvSpPr>
        <p:spPr>
          <a:xfrm>
            <a:off x="868680" y="2217420"/>
            <a:ext cx="457200" cy="457200"/>
          </a:xfrm>
          <a:prstGeom prst="ellipse">
            <a:avLst/>
          </a:prstGeom>
          <a:solidFill>
            <a:srgbClr val="5B6B8C"/>
          </a:solidFill>
          <a:ln/>
        </p:spPr>
      </p:sp>
      <p:sp>
        <p:nvSpPr>
          <p:cNvPr id="7" name="Text 5"/>
          <p:cNvSpPr/>
          <p:nvPr/>
        </p:nvSpPr>
        <p:spPr>
          <a:xfrm>
            <a:off x="868680" y="22174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t>
            </a:r>
            <a:endParaRPr lang="en-US" sz="1600" dirty="0"/>
          </a:p>
        </p:txBody>
      </p:sp>
      <p:sp>
        <p:nvSpPr>
          <p:cNvPr id="8" name="Text 6"/>
          <p:cNvSpPr/>
          <p:nvPr/>
        </p:nvSpPr>
        <p:spPr>
          <a:xfrm>
            <a:off x="1481328" y="2057400"/>
            <a:ext cx="2377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Platform Thread</a:t>
            </a:r>
            <a:endParaRPr lang="en-US" sz="1350" dirty="0"/>
          </a:p>
        </p:txBody>
      </p:sp>
      <p:sp>
        <p:nvSpPr>
          <p:cNvPr id="9" name="Text 7"/>
          <p:cNvSpPr/>
          <p:nvPr/>
        </p:nvSpPr>
        <p:spPr>
          <a:xfrm>
            <a:off x="3840480" y="2039112"/>
            <a:ext cx="2011680" cy="365760"/>
          </a:xfrm>
          <a:prstGeom prst="rect">
            <a:avLst/>
          </a:prstGeom>
          <a:noFill/>
          <a:ln/>
        </p:spPr>
        <p:txBody>
          <a:bodyPr wrap="square" lIns="0" tIns="0" rIns="0" bIns="0" rtlCol="0" anchor="ctr"/>
          <a:lstStyle/>
          <a:p>
            <a:pPr algn="r" indent="0" marL="0">
              <a:buNone/>
            </a:pPr>
            <a:r>
              <a:rPr lang="en-US" sz="1500" b="1" dirty="0">
                <a:solidFill>
                  <a:srgbClr val="028090"/>
                </a:solidFill>
                <a:latin typeface="Cambria" pitchFamily="34" charset="0"/>
                <a:ea typeface="Cambria" pitchFamily="34" charset="-122"/>
                <a:cs typeface="Cambria" pitchFamily="34" charset="-120"/>
              </a:rPr>
              <a:t>~1 MB yığın</a:t>
            </a:r>
            <a:endParaRPr lang="en-US" sz="1500" dirty="0"/>
          </a:p>
        </p:txBody>
      </p:sp>
      <p:sp>
        <p:nvSpPr>
          <p:cNvPr id="10" name="Text 8"/>
          <p:cNvSpPr/>
          <p:nvPr/>
        </p:nvSpPr>
        <p:spPr>
          <a:xfrm>
            <a:off x="1481328" y="2386584"/>
            <a:ext cx="4343400" cy="502920"/>
          </a:xfrm>
          <a:prstGeom prst="rect">
            <a:avLst/>
          </a:prstGeom>
          <a:noFill/>
          <a:ln/>
        </p:spPr>
        <p:txBody>
          <a:bodyPr wrap="square" lIns="0" tIns="0" rIns="0" bIns="0" rtlCol="0" anchor="ctr"/>
          <a:lstStyle/>
          <a:p>
            <a:pPr indent="0" marL="0">
              <a:lnSpc>
                <a:spcPct val="115000"/>
              </a:lnSpc>
              <a:buNone/>
            </a:pPr>
            <a:r>
              <a:rPr lang="en-US" sz="1080" dirty="0">
                <a:solidFill>
                  <a:srgbClr val="1B2440"/>
                </a:solidFill>
                <a:latin typeface="Calibri" pitchFamily="34" charset="0"/>
                <a:ea typeface="Calibri" pitchFamily="34" charset="-122"/>
                <a:cs typeface="Calibri" pitchFamily="34" charset="-120"/>
              </a:rPr>
              <a:t>1 OS thread = 1 Java thread (1:1). Bloke olduğunda taşıyıcı boşa bekler.</a:t>
            </a:r>
            <a:endParaRPr lang="en-US" sz="1080" dirty="0"/>
          </a:p>
        </p:txBody>
      </p:sp>
      <p:sp>
        <p:nvSpPr>
          <p:cNvPr id="11" name="Shape 9"/>
          <p:cNvSpPr/>
          <p:nvPr/>
        </p:nvSpPr>
        <p:spPr>
          <a:xfrm>
            <a:off x="548640" y="3081528"/>
            <a:ext cx="5394960" cy="960120"/>
          </a:xfrm>
          <a:prstGeom prst="roundRect">
            <a:avLst>
              <a:gd name="adj" fmla="val 7619"/>
            </a:avLst>
          </a:prstGeom>
          <a:solidFill>
            <a:srgbClr val="FFFFFF"/>
          </a:solidFill>
          <a:ln w="12700">
            <a:solidFill>
              <a:srgbClr val="E1E7F3"/>
            </a:solidFill>
            <a:prstDash val="solid"/>
          </a:ln>
        </p:spPr>
      </p:sp>
      <p:sp>
        <p:nvSpPr>
          <p:cNvPr id="12" name="Shape 10"/>
          <p:cNvSpPr/>
          <p:nvPr/>
        </p:nvSpPr>
        <p:spPr>
          <a:xfrm>
            <a:off x="868680" y="3332988"/>
            <a:ext cx="457200" cy="457200"/>
          </a:xfrm>
          <a:prstGeom prst="ellipse">
            <a:avLst/>
          </a:prstGeom>
          <a:solidFill>
            <a:srgbClr val="02C39A"/>
          </a:solidFill>
          <a:ln/>
        </p:spPr>
      </p:sp>
      <p:sp>
        <p:nvSpPr>
          <p:cNvPr id="13" name="Text 11"/>
          <p:cNvSpPr/>
          <p:nvPr/>
        </p:nvSpPr>
        <p:spPr>
          <a:xfrm>
            <a:off x="868680" y="33329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a:t>
            </a:r>
            <a:endParaRPr lang="en-US" sz="1600" dirty="0"/>
          </a:p>
        </p:txBody>
      </p:sp>
      <p:sp>
        <p:nvSpPr>
          <p:cNvPr id="14" name="Text 12"/>
          <p:cNvSpPr/>
          <p:nvPr/>
        </p:nvSpPr>
        <p:spPr>
          <a:xfrm>
            <a:off x="1481328" y="3172968"/>
            <a:ext cx="2377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Sanal Thread</a:t>
            </a:r>
            <a:endParaRPr lang="en-US" sz="1350" dirty="0"/>
          </a:p>
        </p:txBody>
      </p:sp>
      <p:sp>
        <p:nvSpPr>
          <p:cNvPr id="15" name="Text 13"/>
          <p:cNvSpPr/>
          <p:nvPr/>
        </p:nvSpPr>
        <p:spPr>
          <a:xfrm>
            <a:off x="3840480" y="3154680"/>
            <a:ext cx="2011680" cy="365760"/>
          </a:xfrm>
          <a:prstGeom prst="rect">
            <a:avLst/>
          </a:prstGeom>
          <a:noFill/>
          <a:ln/>
        </p:spPr>
        <p:txBody>
          <a:bodyPr wrap="square" lIns="0" tIns="0" rIns="0" bIns="0" rtlCol="0" anchor="ctr"/>
          <a:lstStyle/>
          <a:p>
            <a:pPr algn="r" indent="0" marL="0">
              <a:buNone/>
            </a:pPr>
            <a:r>
              <a:rPr lang="en-US" sz="1500" b="1" dirty="0">
                <a:solidFill>
                  <a:srgbClr val="028090"/>
                </a:solidFill>
                <a:latin typeface="Cambria" pitchFamily="34" charset="0"/>
                <a:ea typeface="Cambria" pitchFamily="34" charset="-122"/>
                <a:cs typeface="Cambria" pitchFamily="34" charset="-120"/>
              </a:rPr>
              <a:t>birkaç yüz byte</a:t>
            </a:r>
            <a:endParaRPr lang="en-US" sz="1500" dirty="0"/>
          </a:p>
        </p:txBody>
      </p:sp>
      <p:sp>
        <p:nvSpPr>
          <p:cNvPr id="16" name="Text 14"/>
          <p:cNvSpPr/>
          <p:nvPr/>
        </p:nvSpPr>
        <p:spPr>
          <a:xfrm>
            <a:off x="1481328" y="3502152"/>
            <a:ext cx="4343400" cy="502920"/>
          </a:xfrm>
          <a:prstGeom prst="rect">
            <a:avLst/>
          </a:prstGeom>
          <a:noFill/>
          <a:ln/>
        </p:spPr>
        <p:txBody>
          <a:bodyPr wrap="square" lIns="0" tIns="0" rIns="0" bIns="0" rtlCol="0" anchor="ctr"/>
          <a:lstStyle/>
          <a:p>
            <a:pPr indent="0" marL="0">
              <a:lnSpc>
                <a:spcPct val="115000"/>
              </a:lnSpc>
              <a:buNone/>
            </a:pPr>
            <a:r>
              <a:rPr lang="en-US" sz="1080" dirty="0">
                <a:solidFill>
                  <a:srgbClr val="1B2440"/>
                </a:solidFill>
                <a:latin typeface="Calibri" pitchFamily="34" charset="0"/>
                <a:ea typeface="Calibri" pitchFamily="34" charset="-122"/>
                <a:cs typeface="Calibri" pitchFamily="34" charset="-120"/>
              </a:rPr>
              <a:t>Binlerce sanal thread, küçük bir taşıyıcı havuzu üzerinde (M:N) çalışır.</a:t>
            </a:r>
            <a:endParaRPr lang="en-US" sz="1080" dirty="0"/>
          </a:p>
        </p:txBody>
      </p:sp>
      <p:sp>
        <p:nvSpPr>
          <p:cNvPr id="17" name="Text 15"/>
          <p:cNvSpPr/>
          <p:nvPr/>
        </p:nvSpPr>
        <p:spPr>
          <a:xfrm>
            <a:off x="548640" y="4306824"/>
            <a:ext cx="5394960" cy="777240"/>
          </a:xfrm>
          <a:prstGeom prst="rect">
            <a:avLst/>
          </a:prstGeom>
          <a:noFill/>
          <a:ln/>
        </p:spPr>
        <p:txBody>
          <a:bodyPr wrap="square" lIns="0" tIns="0" rIns="0" bIns="0" rtlCol="0" anchor="ctr"/>
          <a:lstStyle/>
          <a:p>
            <a:pPr indent="0" marL="0">
              <a:lnSpc>
                <a:spcPct val="118000"/>
              </a:lnSpc>
              <a:buNone/>
            </a:pPr>
            <a:r>
              <a:rPr lang="en-US" sz="1140" dirty="0">
                <a:solidFill>
                  <a:srgbClr val="1B2440"/>
                </a:solidFill>
                <a:latin typeface="Calibri" pitchFamily="34" charset="0"/>
                <a:ea typeface="Calibri" pitchFamily="34" charset="-122"/>
                <a:cs typeface="Calibri" pitchFamily="34" charset="-120"/>
              </a:rPr>
              <a:t>dbs-mail-reader baştan sona IO-bound: IMAP, ek indirme, SFTP, JDBC, Kafka. Fayda sadece IO-bound işlerde ortaya çıkar — CPU-bound bir işte sanal thread hiçbir şey kazandırmaz.</a:t>
            </a:r>
            <a:endParaRPr lang="en-US" sz="1140" dirty="0"/>
          </a:p>
        </p:txBody>
      </p:sp>
      <p:sp>
        <p:nvSpPr>
          <p:cNvPr id="18" name="Shape 16"/>
          <p:cNvSpPr/>
          <p:nvPr/>
        </p:nvSpPr>
        <p:spPr>
          <a:xfrm>
            <a:off x="6263640" y="1536192"/>
            <a:ext cx="0" cy="3657600"/>
          </a:xfrm>
          <a:prstGeom prst="line">
            <a:avLst/>
          </a:prstGeom>
          <a:noFill/>
          <a:ln w="12700">
            <a:solidFill>
              <a:srgbClr val="D7DEEE"/>
            </a:solidFill>
            <a:prstDash val="solid"/>
          </a:ln>
        </p:spPr>
      </p:sp>
      <p:sp>
        <p:nvSpPr>
          <p:cNvPr id="19" name="Text 17"/>
          <p:cNvSpPr/>
          <p:nvPr/>
        </p:nvSpPr>
        <p:spPr>
          <a:xfrm>
            <a:off x="6537960" y="1536192"/>
            <a:ext cx="502920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Devreye Alma</a:t>
            </a:r>
            <a:endParaRPr lang="en-US" sz="1500" dirty="0"/>
          </a:p>
        </p:txBody>
      </p:sp>
      <p:sp>
        <p:nvSpPr>
          <p:cNvPr id="20" name="Shape 18"/>
          <p:cNvSpPr/>
          <p:nvPr/>
        </p:nvSpPr>
        <p:spPr>
          <a:xfrm>
            <a:off x="6537960" y="1920240"/>
            <a:ext cx="5074920" cy="1203960"/>
          </a:xfrm>
          <a:prstGeom prst="roundRect">
            <a:avLst>
              <a:gd name="adj" fmla="val 6076"/>
            </a:avLst>
          </a:prstGeom>
          <a:solidFill>
            <a:srgbClr val="141A46"/>
          </a:solidFill>
          <a:ln/>
        </p:spPr>
      </p:sp>
      <p:sp>
        <p:nvSpPr>
          <p:cNvPr id="21" name="Text 19"/>
          <p:cNvSpPr/>
          <p:nvPr/>
        </p:nvSpPr>
        <p:spPr>
          <a:xfrm>
            <a:off x="6739128" y="2066544"/>
            <a:ext cx="4672584" cy="911352"/>
          </a:xfrm>
          <a:prstGeom prst="rect">
            <a:avLst/>
          </a:prstGeom>
          <a:noFill/>
          <a:ln/>
        </p:spPr>
        <p:txBody>
          <a:bodyPr wrap="square" lIns="0" tIns="0" rIns="0" bIns="0" rtlCol="0" anchor="t"/>
          <a:lstStyle/>
          <a:p>
            <a:pPr algn="l" indent="0" marL="0">
              <a:lnSpc>
                <a:spcPct val="118000"/>
              </a:lnSpc>
              <a:buNone/>
            </a:pPr>
            <a:r>
              <a:rPr lang="en-US" sz="1300" dirty="0">
                <a:solidFill>
                  <a:srgbClr val="D7F7EC"/>
                </a:solidFill>
                <a:latin typeface="Courier New" pitchFamily="34" charset="0"/>
                <a:ea typeface="Courier New" pitchFamily="34" charset="-122"/>
                <a:cs typeface="Courier New" pitchFamily="34" charset="-120"/>
              </a:rPr>
              <a:t>spring:</a:t>
            </a:r>
            <a:endParaRPr lang="en-US" sz="1300" dirty="0"/>
          </a:p>
          <a:p>
            <a:pPr algn="l" indent="0" marL="0">
              <a:lnSpc>
                <a:spcPct val="118000"/>
              </a:lnSpc>
              <a:buNone/>
            </a:pPr>
            <a:r>
              <a:rPr lang="en-US" sz="1300" dirty="0">
                <a:solidFill>
                  <a:srgbClr val="D7F7EC"/>
                </a:solidFill>
                <a:latin typeface="Courier New" pitchFamily="34" charset="0"/>
                <a:ea typeface="Courier New" pitchFamily="34" charset="-122"/>
                <a:cs typeface="Courier New" pitchFamily="34" charset="-120"/>
              </a:rPr>
              <a:t>  threads:</a:t>
            </a:r>
            <a:endParaRPr lang="en-US" sz="1300" dirty="0"/>
          </a:p>
          <a:p>
            <a:pPr algn="l" indent="0" marL="0">
              <a:lnSpc>
                <a:spcPct val="118000"/>
              </a:lnSpc>
              <a:buNone/>
            </a:pPr>
            <a:r>
              <a:rPr lang="en-US" sz="1300" dirty="0">
                <a:solidFill>
                  <a:srgbClr val="D7F7EC"/>
                </a:solidFill>
                <a:latin typeface="Courier New" pitchFamily="34" charset="0"/>
                <a:ea typeface="Courier New" pitchFamily="34" charset="-122"/>
                <a:cs typeface="Courier New" pitchFamily="34" charset="-120"/>
              </a:rPr>
              <a:t>    virtual:</a:t>
            </a:r>
            <a:endParaRPr lang="en-US" sz="1300" dirty="0"/>
          </a:p>
          <a:p>
            <a:pPr algn="l" indent="0" marL="0">
              <a:lnSpc>
                <a:spcPct val="118000"/>
              </a:lnSpc>
              <a:buNone/>
            </a:pPr>
            <a:r>
              <a:rPr lang="en-US" sz="1300" dirty="0">
                <a:solidFill>
                  <a:srgbClr val="D7F7EC"/>
                </a:solidFill>
                <a:latin typeface="Courier New" pitchFamily="34" charset="0"/>
                <a:ea typeface="Courier New" pitchFamily="34" charset="-122"/>
                <a:cs typeface="Courier New" pitchFamily="34" charset="-120"/>
              </a:rPr>
              <a:t>      enabled: true</a:t>
            </a:r>
            <a:endParaRPr lang="en-US" sz="1300" dirty="0"/>
          </a:p>
        </p:txBody>
      </p:sp>
      <p:sp>
        <p:nvSpPr>
          <p:cNvPr id="22" name="Text 20"/>
          <p:cNvSpPr/>
          <p:nvPr/>
        </p:nvSpPr>
        <p:spPr>
          <a:xfrm>
            <a:off x="6537960" y="3307080"/>
            <a:ext cx="5074920" cy="1371600"/>
          </a:xfrm>
          <a:prstGeom prst="rect">
            <a:avLst/>
          </a:prstGeom>
          <a:noFill/>
          <a:ln/>
        </p:spPr>
        <p:txBody>
          <a:bodyPr wrap="square" lIns="0" tIns="0" rIns="0" bIns="0" rtlCol="0" anchor="ctr"/>
          <a:lstStyle/>
          <a:p>
            <a:pPr indent="0" marL="0">
              <a:lnSpc>
                <a:spcPct val="120000"/>
              </a:lnSpc>
              <a:buNone/>
            </a:pPr>
            <a:r>
              <a:rPr lang="en-US" sz="1160" dirty="0">
                <a:solidFill>
                  <a:srgbClr val="1B2440"/>
                </a:solidFill>
                <a:latin typeface="Calibri" pitchFamily="34" charset="0"/>
                <a:ea typeface="Calibri" pitchFamily="34" charset="-122"/>
                <a:cs typeface="Calibri" pitchFamily="34" charset="-120"/>
              </a:rPr>
              <a:t>Tek satır konfigürasyon yeterli. Spring Boot, bu bayrak açıldığında Tomcat'in istek işleme executor'ını ve @Async / @Scheduled metotlarının executor'ını otomatik olarak sanal thread tabanlı bir executor ile değiştiriyor — kod tabanında hiçbir satır değişmiyor.</a:t>
            </a:r>
            <a:endParaRPr lang="en-US" sz="1160" dirty="0"/>
          </a:p>
        </p:txBody>
      </p:sp>
      <p:sp>
        <p:nvSpPr>
          <p:cNvPr id="23" name="Shape 21"/>
          <p:cNvSpPr/>
          <p:nvPr/>
        </p:nvSpPr>
        <p:spPr>
          <a:xfrm>
            <a:off x="6537960" y="4724400"/>
            <a:ext cx="2377440" cy="292608"/>
          </a:xfrm>
          <a:prstGeom prst="roundRect">
            <a:avLst>
              <a:gd name="adj" fmla="val 50000"/>
            </a:avLst>
          </a:prstGeom>
          <a:solidFill>
            <a:srgbClr val="02C39A"/>
          </a:solidFill>
          <a:ln/>
        </p:spPr>
      </p:sp>
      <p:sp>
        <p:nvSpPr>
          <p:cNvPr id="24" name="Text 22"/>
          <p:cNvSpPr/>
          <p:nvPr/>
        </p:nvSpPr>
        <p:spPr>
          <a:xfrm>
            <a:off x="6537960" y="4724400"/>
            <a:ext cx="23774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Java 21+ / Boot 4'te olgun</a:t>
            </a:r>
            <a:endParaRPr lang="en-US" sz="1100" dirty="0"/>
          </a:p>
        </p:txBody>
      </p:sp>
      <p:sp>
        <p:nvSpPr>
          <p:cNvPr id="25" name="Shape 23"/>
          <p:cNvSpPr/>
          <p:nvPr/>
        </p:nvSpPr>
        <p:spPr>
          <a:xfrm>
            <a:off x="548640" y="5349240"/>
            <a:ext cx="11064240" cy="1051560"/>
          </a:xfrm>
          <a:prstGeom prst="roundRect">
            <a:avLst>
              <a:gd name="adj" fmla="val 6957"/>
            </a:avLst>
          </a:prstGeom>
          <a:solidFill>
            <a:srgbClr val="FBEFEA"/>
          </a:solidFill>
          <a:ln w="12700">
            <a:solidFill>
              <a:srgbClr val="B85042"/>
            </a:solidFill>
            <a:prstDash val="solid"/>
          </a:ln>
        </p:spPr>
      </p:sp>
      <p:sp>
        <p:nvSpPr>
          <p:cNvPr id="26" name="Shape 24"/>
          <p:cNvSpPr/>
          <p:nvPr/>
        </p:nvSpPr>
        <p:spPr>
          <a:xfrm>
            <a:off x="978408" y="5618988"/>
            <a:ext cx="512064" cy="512064"/>
          </a:xfrm>
          <a:prstGeom prst="ellipse">
            <a:avLst/>
          </a:prstGeom>
          <a:solidFill>
            <a:srgbClr val="B85042"/>
          </a:solidFill>
          <a:ln/>
        </p:spPr>
      </p:sp>
      <p:sp>
        <p:nvSpPr>
          <p:cNvPr id="27" name="Text 25"/>
          <p:cNvSpPr/>
          <p:nvPr/>
        </p:nvSpPr>
        <p:spPr>
          <a:xfrm>
            <a:off x="978408" y="561898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8" name="Text 26"/>
          <p:cNvSpPr/>
          <p:nvPr/>
        </p:nvSpPr>
        <p:spPr>
          <a:xfrm>
            <a:off x="1737360" y="5458968"/>
            <a:ext cx="9601200" cy="832104"/>
          </a:xfrm>
          <a:prstGeom prst="rect">
            <a:avLst/>
          </a:prstGeom>
          <a:noFill/>
          <a:ln/>
        </p:spPr>
        <p:txBody>
          <a:bodyPr wrap="square" lIns="0" tIns="0" rIns="0" bIns="0" rtlCol="0" anchor="t"/>
          <a:lstStyle/>
          <a:p>
            <a:pPr indent="0" marL="0">
              <a:lnSpc>
                <a:spcPct val="118000"/>
              </a:lnSpc>
              <a:buNone/>
            </a:pPr>
            <a:r>
              <a:rPr lang="en-US" sz="1160" b="1" dirty="0">
                <a:solidFill>
                  <a:srgbClr val="B85042"/>
                </a:solidFill>
                <a:latin typeface="Calibri" pitchFamily="34" charset="0"/>
                <a:ea typeface="Calibri" pitchFamily="34" charset="-122"/>
                <a:cs typeface="Calibri" pitchFamily="34" charset="-120"/>
              </a:rPr>
              <a:t>Tarihsel not — pinning sorunu artık yok: </a:t>
            </a:r>
            <a:pPr indent="0" marL="0">
              <a:lnSpc>
                <a:spcPct val="118000"/>
              </a:lnSpc>
              <a:buNone/>
            </a:pPr>
            <a:r>
              <a:rPr lang="en-US" sz="1160" dirty="0">
                <a:solidFill>
                  <a:srgbClr val="1B2440"/>
                </a:solidFill>
                <a:latin typeface="Calibri" pitchFamily="34" charset="0"/>
                <a:ea typeface="Calibri" pitchFamily="34" charset="-122"/>
                <a:cs typeface="Calibri" pitchFamily="34" charset="-120"/>
              </a:rPr>
              <a:t>JDK 21-23 arası, synchronized blok içinde bloke olan bir sanal thread taşıyıcısına 'pinlenip' kalıyor, asıl avantaj kayboluyordu. JDK 24 ile gelen JEP 491 (Synchronize Virtual Threads without Pinning) bu sorunu tamamen çözdü — Java 25'te bu artık tarihe ait bir detay.</a:t>
            </a:r>
            <a:endParaRPr lang="en-US" sz="1160" dirty="0"/>
          </a:p>
        </p:txBody>
      </p:sp>
      <p:sp>
        <p:nvSpPr>
          <p:cNvPr id="29" name="Text 2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30" name="Text 28"/>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JAVA 25 · EŞZAMANLILIK</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ScopedValue (JEP 506) — sıradaki adım</a:t>
            </a:r>
            <a:endParaRPr lang="en-US" sz="2800" dirty="0"/>
          </a:p>
        </p:txBody>
      </p:sp>
      <p:sp>
        <p:nvSpPr>
          <p:cNvPr id="4" name="Text 2"/>
          <p:cNvSpPr/>
          <p:nvPr/>
        </p:nvSpPr>
        <p:spPr>
          <a:xfrm>
            <a:off x="548640" y="1536192"/>
            <a:ext cx="539496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Bugün: ThreadLocal + MDC</a:t>
            </a:r>
            <a:endParaRPr lang="en-US" sz="1500" dirty="0"/>
          </a:p>
        </p:txBody>
      </p:sp>
      <p:sp>
        <p:nvSpPr>
          <p:cNvPr id="5" name="Text 3"/>
          <p:cNvSpPr/>
          <p:nvPr/>
        </p:nvSpPr>
        <p:spPr>
          <a:xfrm>
            <a:off x="548640" y="1901952"/>
            <a:ext cx="5394960" cy="548640"/>
          </a:xfrm>
          <a:prstGeom prst="rect">
            <a:avLst/>
          </a:prstGeom>
          <a:noFill/>
          <a:ln/>
        </p:spPr>
        <p:txBody>
          <a:bodyPr wrap="square" lIns="0" tIns="0" rIns="0" bIns="0" rtlCol="0" anchor="ctr"/>
          <a:lstStyle/>
          <a:p>
            <a:pPr indent="0" marL="0">
              <a:lnSpc>
                <a:spcPct val="120000"/>
              </a:lnSpc>
              <a:buNone/>
            </a:pPr>
            <a:r>
              <a:rPr lang="en-US" sz="1200" dirty="0">
                <a:solidFill>
                  <a:srgbClr val="1B2440"/>
                </a:solidFill>
                <a:latin typeface="Calibri" pitchFamily="34" charset="0"/>
                <a:ea typeface="Calibri" pitchFamily="34" charset="-122"/>
                <a:cs typeface="Calibri" pitchFamily="34" charset="-120"/>
              </a:rPr>
              <a:t>RequestContextHolder bugün ThreadLocal kullanıyor. Kod içindeki yorum bunun bilinçli ve geçici bir karar olduğunu zaten belirtiyor:</a:t>
            </a:r>
            <a:endParaRPr lang="en-US" sz="1200" dirty="0"/>
          </a:p>
        </p:txBody>
      </p:sp>
      <p:sp>
        <p:nvSpPr>
          <p:cNvPr id="6" name="Shape 4"/>
          <p:cNvSpPr/>
          <p:nvPr/>
        </p:nvSpPr>
        <p:spPr>
          <a:xfrm>
            <a:off x="548640" y="2487168"/>
            <a:ext cx="5394960" cy="897255"/>
          </a:xfrm>
          <a:prstGeom prst="roundRect">
            <a:avLst>
              <a:gd name="adj" fmla="val 8153"/>
            </a:avLst>
          </a:prstGeom>
          <a:solidFill>
            <a:srgbClr val="141A46"/>
          </a:solidFill>
          <a:ln/>
        </p:spPr>
      </p:sp>
      <p:sp>
        <p:nvSpPr>
          <p:cNvPr id="7" name="Text 5"/>
          <p:cNvSpPr/>
          <p:nvPr/>
        </p:nvSpPr>
        <p:spPr>
          <a:xfrm>
            <a:off x="749808" y="2633472"/>
            <a:ext cx="4992624" cy="604647"/>
          </a:xfrm>
          <a:prstGeom prst="rect">
            <a:avLst/>
          </a:prstGeom>
          <a:noFill/>
          <a:ln/>
        </p:spPr>
        <p:txBody>
          <a:bodyPr wrap="square" lIns="0" tIns="0" rIns="0" bIns="0" rtlCol="0" anchor="t"/>
          <a:lstStyle/>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InheritableThreadLocal degil, cunku pool'da</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deger ilk olusturuldugu haliyle kalir —</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id karisir.</a:t>
            </a:r>
            <a:endParaRPr lang="en-US" sz="1150" dirty="0"/>
          </a:p>
        </p:txBody>
      </p:sp>
      <p:sp>
        <p:nvSpPr>
          <p:cNvPr id="8" name="Text 6"/>
          <p:cNvSpPr/>
          <p:nvPr/>
        </p:nvSpPr>
        <p:spPr>
          <a:xfrm>
            <a:off x="548640" y="3567303"/>
            <a:ext cx="5394960" cy="1005840"/>
          </a:xfrm>
          <a:prstGeom prst="rect">
            <a:avLst/>
          </a:prstGeom>
          <a:noFill/>
          <a:ln/>
        </p:spPr>
        <p:txBody>
          <a:bodyPr wrap="square" lIns="0" tIns="0" rIns="0" bIns="0" rtlCol="0" anchor="ctr"/>
          <a:lstStyle/>
          <a:p>
            <a:pPr indent="0" marL="0">
              <a:lnSpc>
                <a:spcPct val="120000"/>
              </a:lnSpc>
              <a:buNone/>
            </a:pPr>
            <a:r>
              <a:rPr lang="en-US" sz="1140" dirty="0">
                <a:solidFill>
                  <a:srgbClr val="1B2440"/>
                </a:solidFill>
                <a:latin typeface="Calibri" pitchFamily="34" charset="0"/>
                <a:ea typeface="Calibri" pitchFamily="34" charset="-122"/>
                <a:cs typeface="Calibri" pitchFamily="34" charset="-120"/>
              </a:rPr>
              <a:t>Sebep: InheritableThreadLocal değeri sadece thread oluşturulma anında kopyalar. Bir thread havuzunda thread yeniden kullanıldığında, önceki isteğin bıraktığı değeri görebilir — klasik bir sızıntı/karışma kaynağı.</a:t>
            </a:r>
            <a:endParaRPr lang="en-US" sz="1140" dirty="0"/>
          </a:p>
        </p:txBody>
      </p:sp>
      <p:sp>
        <p:nvSpPr>
          <p:cNvPr id="9" name="Shape 7"/>
          <p:cNvSpPr/>
          <p:nvPr/>
        </p:nvSpPr>
        <p:spPr>
          <a:xfrm>
            <a:off x="6263640" y="1536192"/>
            <a:ext cx="0" cy="3657600"/>
          </a:xfrm>
          <a:prstGeom prst="line">
            <a:avLst/>
          </a:prstGeom>
          <a:noFill/>
          <a:ln w="12700">
            <a:solidFill>
              <a:srgbClr val="D7DEEE"/>
            </a:solidFill>
            <a:prstDash val="solid"/>
          </a:ln>
        </p:spPr>
      </p:sp>
      <p:sp>
        <p:nvSpPr>
          <p:cNvPr id="10" name="Text 8"/>
          <p:cNvSpPr/>
          <p:nvPr/>
        </p:nvSpPr>
        <p:spPr>
          <a:xfrm>
            <a:off x="6537960" y="1536192"/>
            <a:ext cx="502920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ScopedValue nasıl çalışır</a:t>
            </a:r>
            <a:endParaRPr lang="en-US" sz="1500" dirty="0"/>
          </a:p>
        </p:txBody>
      </p:sp>
      <p:sp>
        <p:nvSpPr>
          <p:cNvPr id="11" name="Shape 9"/>
          <p:cNvSpPr/>
          <p:nvPr/>
        </p:nvSpPr>
        <p:spPr>
          <a:xfrm>
            <a:off x="6537960" y="1901952"/>
            <a:ext cx="5074920" cy="1470355"/>
          </a:xfrm>
          <a:prstGeom prst="roundRect">
            <a:avLst>
              <a:gd name="adj" fmla="val 4975"/>
            </a:avLst>
          </a:prstGeom>
          <a:solidFill>
            <a:srgbClr val="141A46"/>
          </a:solidFill>
          <a:ln/>
        </p:spPr>
      </p:sp>
      <p:sp>
        <p:nvSpPr>
          <p:cNvPr id="12" name="Text 10"/>
          <p:cNvSpPr/>
          <p:nvPr/>
        </p:nvSpPr>
        <p:spPr>
          <a:xfrm>
            <a:off x="6739128" y="2048256"/>
            <a:ext cx="4672584" cy="1177747"/>
          </a:xfrm>
          <a:prstGeom prst="rect">
            <a:avLst/>
          </a:prstGeom>
          <a:noFill/>
          <a:ln/>
        </p:spPr>
        <p:txBody>
          <a:bodyPr wrap="square" lIns="0" tIns="0" rIns="0" bIns="0" rtlCol="0" anchor="t"/>
          <a:lstStyle/>
          <a:p>
            <a:pPr algn="l" indent="0" marL="0">
              <a:lnSpc>
                <a:spcPct val="118000"/>
              </a:lnSpc>
              <a:buNone/>
            </a:pPr>
            <a:r>
              <a:rPr lang="en-US" sz="1120" dirty="0">
                <a:solidFill>
                  <a:srgbClr val="D7F7EC"/>
                </a:solidFill>
                <a:latin typeface="Courier New" pitchFamily="34" charset="0"/>
                <a:ea typeface="Courier New" pitchFamily="34" charset="-122"/>
                <a:cs typeface="Courier New" pitchFamily="34" charset="-120"/>
              </a:rPr>
              <a:t>static final ScopedValue&lt;RequestContext&gt; CTX</a:t>
            </a:r>
            <a:endParaRPr lang="en-US" sz="1120" dirty="0"/>
          </a:p>
          <a:p>
            <a:pPr algn="l" indent="0" marL="0">
              <a:lnSpc>
                <a:spcPct val="118000"/>
              </a:lnSpc>
              <a:buNone/>
            </a:pPr>
            <a:r>
              <a:rPr lang="en-US" sz="1120" dirty="0">
                <a:solidFill>
                  <a:srgbClr val="D7F7EC"/>
                </a:solidFill>
                <a:latin typeface="Courier New" pitchFamily="34" charset="0"/>
                <a:ea typeface="Courier New" pitchFamily="34" charset="-122"/>
                <a:cs typeface="Courier New" pitchFamily="34" charset="-120"/>
              </a:rPr>
              <a:t>    = ScopedValue.newInstance();</a:t>
            </a:r>
            <a:endParaRPr lang="en-US" sz="1120" dirty="0"/>
          </a:p>
          <a:p>
            <a:pPr algn="l" indent="0" marL="0">
              <a:lnSpc>
                <a:spcPct val="118000"/>
              </a:lnSpc>
              <a:buNone/>
            </a:pPr>
            <a:endParaRPr lang="en-US" sz="1120" dirty="0"/>
          </a:p>
          <a:p>
            <a:pPr algn="l" indent="0" marL="0">
              <a:lnSpc>
                <a:spcPct val="118000"/>
              </a:lnSpc>
              <a:buNone/>
            </a:pPr>
            <a:r>
              <a:rPr lang="en-US" sz="1120" dirty="0">
                <a:solidFill>
                  <a:srgbClr val="D7F7EC"/>
                </a:solidFill>
                <a:latin typeface="Courier New" pitchFamily="34" charset="0"/>
                <a:ea typeface="Courier New" pitchFamily="34" charset="-122"/>
                <a:cs typeface="Courier New" pitchFamily="34" charset="-120"/>
              </a:rPr>
              <a:t>ScopedValue.where(CTX, context).run(() -&gt; {</a:t>
            </a:r>
            <a:endParaRPr lang="en-US" sz="1120" dirty="0"/>
          </a:p>
          <a:p>
            <a:pPr algn="l" indent="0" marL="0">
              <a:lnSpc>
                <a:spcPct val="118000"/>
              </a:lnSpc>
              <a:buNone/>
            </a:pPr>
            <a:r>
              <a:rPr lang="en-US" sz="1120" dirty="0">
                <a:solidFill>
                  <a:srgbClr val="D7F7EC"/>
                </a:solidFill>
                <a:latin typeface="Courier New" pitchFamily="34" charset="0"/>
                <a:ea typeface="Courier New" pitchFamily="34" charset="-122"/>
                <a:cs typeface="Courier New" pitchFamily="34" charset="-120"/>
              </a:rPr>
              <a:t>    // CTX.get() ile deger okunur</a:t>
            </a:r>
            <a:endParaRPr lang="en-US" sz="1120" dirty="0"/>
          </a:p>
          <a:p>
            <a:pPr algn="l" indent="0" marL="0">
              <a:lnSpc>
                <a:spcPct val="118000"/>
              </a:lnSpc>
              <a:buNone/>
            </a:pPr>
            <a:r>
              <a:rPr lang="en-US" sz="1120" dirty="0">
                <a:solidFill>
                  <a:srgbClr val="D7F7EC"/>
                </a:solidFill>
                <a:latin typeface="Courier New" pitchFamily="34" charset="0"/>
                <a:ea typeface="Courier New" pitchFamily="34" charset="-122"/>
                <a:cs typeface="Courier New" pitchFamily="34" charset="-120"/>
              </a:rPr>
              <a:t>});  // blok bitince otomatik duser</a:t>
            </a:r>
            <a:endParaRPr lang="en-US" sz="1120" dirty="0"/>
          </a:p>
        </p:txBody>
      </p:sp>
      <p:sp>
        <p:nvSpPr>
          <p:cNvPr id="13" name="Shape 11"/>
          <p:cNvSpPr/>
          <p:nvPr/>
        </p:nvSpPr>
        <p:spPr>
          <a:xfrm>
            <a:off x="6547104" y="3429000"/>
            <a:ext cx="237744" cy="237744"/>
          </a:xfrm>
          <a:prstGeom prst="ellipse">
            <a:avLst/>
          </a:prstGeom>
          <a:solidFill>
            <a:srgbClr val="02C39A"/>
          </a:solidFill>
          <a:ln/>
        </p:spPr>
      </p:sp>
      <p:sp>
        <p:nvSpPr>
          <p:cNvPr id="14" name="Text 12"/>
          <p:cNvSpPr/>
          <p:nvPr/>
        </p:nvSpPr>
        <p:spPr>
          <a:xfrm>
            <a:off x="6547104" y="342900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5" name="Text 13"/>
          <p:cNvSpPr/>
          <p:nvPr/>
        </p:nvSpPr>
        <p:spPr>
          <a:xfrm>
            <a:off x="6922008" y="3337560"/>
            <a:ext cx="4736592" cy="457200"/>
          </a:xfrm>
          <a:prstGeom prst="rect">
            <a:avLst/>
          </a:prstGeom>
          <a:noFill/>
          <a:ln/>
        </p:spPr>
        <p:txBody>
          <a:bodyPr wrap="square" lIns="0" tIns="0" rIns="0" bIns="0" rtlCol="0" anchor="t"/>
          <a:lstStyle/>
          <a:p>
            <a:pPr indent="0" marL="0">
              <a:lnSpc>
                <a:spcPct val="112000"/>
              </a:lnSpc>
              <a:buNone/>
            </a:pPr>
            <a:r>
              <a:rPr lang="en-US" sz="1090" b="1" dirty="0">
                <a:solidFill>
                  <a:srgbClr val="1E2761"/>
                </a:solidFill>
                <a:latin typeface="Calibri" pitchFamily="34" charset="0"/>
                <a:ea typeface="Calibri" pitchFamily="34" charset="-122"/>
                <a:cs typeface="Calibri" pitchFamily="34" charset="-120"/>
              </a:rPr>
              <a:t>Değişmez  —  </a:t>
            </a:r>
            <a:pPr indent="0" marL="0">
              <a:lnSpc>
                <a:spcPct val="112000"/>
              </a:lnSpc>
              <a:buNone/>
            </a:pPr>
            <a:r>
              <a:rPr lang="en-US" sz="1090" dirty="0">
                <a:solidFill>
                  <a:srgbClr val="1B2440"/>
                </a:solidFill>
                <a:latin typeface="Calibri" pitchFamily="34" charset="0"/>
                <a:ea typeface="Calibri" pitchFamily="34" charset="-122"/>
                <a:cs typeface="Calibri" pitchFamily="34" charset="-120"/>
              </a:rPr>
              <a:t>Kapsam içinde üzerine yazma riski yok.</a:t>
            </a:r>
            <a:endParaRPr lang="en-US" sz="1090" dirty="0"/>
          </a:p>
        </p:txBody>
      </p:sp>
      <p:sp>
        <p:nvSpPr>
          <p:cNvPr id="16" name="Shape 14"/>
          <p:cNvSpPr/>
          <p:nvPr/>
        </p:nvSpPr>
        <p:spPr>
          <a:xfrm>
            <a:off x="6547104" y="3886200"/>
            <a:ext cx="237744" cy="237744"/>
          </a:xfrm>
          <a:prstGeom prst="ellipse">
            <a:avLst/>
          </a:prstGeom>
          <a:solidFill>
            <a:srgbClr val="02C39A"/>
          </a:solidFill>
          <a:ln/>
        </p:spPr>
      </p:sp>
      <p:sp>
        <p:nvSpPr>
          <p:cNvPr id="17" name="Text 15"/>
          <p:cNvSpPr/>
          <p:nvPr/>
        </p:nvSpPr>
        <p:spPr>
          <a:xfrm>
            <a:off x="6547104" y="388620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6922008" y="3794760"/>
            <a:ext cx="4736592" cy="457200"/>
          </a:xfrm>
          <a:prstGeom prst="rect">
            <a:avLst/>
          </a:prstGeom>
          <a:noFill/>
          <a:ln/>
        </p:spPr>
        <p:txBody>
          <a:bodyPr wrap="square" lIns="0" tIns="0" rIns="0" bIns="0" rtlCol="0" anchor="t"/>
          <a:lstStyle/>
          <a:p>
            <a:pPr indent="0" marL="0">
              <a:lnSpc>
                <a:spcPct val="112000"/>
              </a:lnSpc>
              <a:buNone/>
            </a:pPr>
            <a:r>
              <a:rPr lang="en-US" sz="1090" b="1" dirty="0">
                <a:solidFill>
                  <a:srgbClr val="1E2761"/>
                </a:solidFill>
                <a:latin typeface="Calibri" pitchFamily="34" charset="0"/>
                <a:ea typeface="Calibri" pitchFamily="34" charset="-122"/>
                <a:cs typeface="Calibri" pitchFamily="34" charset="-120"/>
              </a:rPr>
              <a:t>Otomatik temizlik  —  </a:t>
            </a:r>
            <a:pPr indent="0" marL="0">
              <a:lnSpc>
                <a:spcPct val="112000"/>
              </a:lnSpc>
              <a:buNone/>
            </a:pPr>
            <a:r>
              <a:rPr lang="en-US" sz="1090" dirty="0">
                <a:solidFill>
                  <a:srgbClr val="1B2440"/>
                </a:solidFill>
                <a:latin typeface="Calibri" pitchFamily="34" charset="0"/>
                <a:ea typeface="Calibri" pitchFamily="34" charset="-122"/>
                <a:cs typeface="Calibri" pitchFamily="34" charset="-120"/>
              </a:rPr>
              <a:t>finally{clear()} unutma riski kalkar.</a:t>
            </a:r>
            <a:endParaRPr lang="en-US" sz="1090" dirty="0"/>
          </a:p>
        </p:txBody>
      </p:sp>
      <p:sp>
        <p:nvSpPr>
          <p:cNvPr id="19" name="Shape 17"/>
          <p:cNvSpPr/>
          <p:nvPr/>
        </p:nvSpPr>
        <p:spPr>
          <a:xfrm>
            <a:off x="6547104" y="4343400"/>
            <a:ext cx="237744" cy="237744"/>
          </a:xfrm>
          <a:prstGeom prst="ellipse">
            <a:avLst/>
          </a:prstGeom>
          <a:solidFill>
            <a:srgbClr val="02C39A"/>
          </a:solidFill>
          <a:ln/>
        </p:spPr>
      </p:sp>
      <p:sp>
        <p:nvSpPr>
          <p:cNvPr id="20" name="Text 18"/>
          <p:cNvSpPr/>
          <p:nvPr/>
        </p:nvSpPr>
        <p:spPr>
          <a:xfrm>
            <a:off x="6547104" y="434340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6922008" y="4251960"/>
            <a:ext cx="4736592" cy="457200"/>
          </a:xfrm>
          <a:prstGeom prst="rect">
            <a:avLst/>
          </a:prstGeom>
          <a:noFill/>
          <a:ln/>
        </p:spPr>
        <p:txBody>
          <a:bodyPr wrap="square" lIns="0" tIns="0" rIns="0" bIns="0" rtlCol="0" anchor="t"/>
          <a:lstStyle/>
          <a:p>
            <a:pPr indent="0" marL="0">
              <a:lnSpc>
                <a:spcPct val="112000"/>
              </a:lnSpc>
              <a:buNone/>
            </a:pPr>
            <a:r>
              <a:rPr lang="en-US" sz="1090" b="1" dirty="0">
                <a:solidFill>
                  <a:srgbClr val="1E2761"/>
                </a:solidFill>
                <a:latin typeface="Calibri" pitchFamily="34" charset="0"/>
                <a:ea typeface="Calibri" pitchFamily="34" charset="-122"/>
                <a:cs typeface="Calibri" pitchFamily="34" charset="-120"/>
              </a:rPr>
              <a:t>Sanal thread dostu  —  </a:t>
            </a:r>
            <a:pPr indent="0" marL="0">
              <a:lnSpc>
                <a:spcPct val="112000"/>
              </a:lnSpc>
              <a:buNone/>
            </a:pPr>
            <a:r>
              <a:rPr lang="en-US" sz="1090" dirty="0">
                <a:solidFill>
                  <a:srgbClr val="1B2440"/>
                </a:solidFill>
                <a:latin typeface="Calibri" pitchFamily="34" charset="0"/>
                <a:ea typeface="Calibri" pitchFamily="34" charset="-122"/>
                <a:cs typeface="Calibri" pitchFamily="34" charset="-120"/>
              </a:rPr>
              <a:t>Milyonlarca thread'de yapısal paylaşım kullanır.</a:t>
            </a:r>
            <a:endParaRPr lang="en-US" sz="1090" dirty="0"/>
          </a:p>
        </p:txBody>
      </p:sp>
      <p:sp>
        <p:nvSpPr>
          <p:cNvPr id="22" name="Shape 20"/>
          <p:cNvSpPr/>
          <p:nvPr/>
        </p:nvSpPr>
        <p:spPr>
          <a:xfrm>
            <a:off x="6547104" y="4800600"/>
            <a:ext cx="237744" cy="237744"/>
          </a:xfrm>
          <a:prstGeom prst="ellipse">
            <a:avLst/>
          </a:prstGeom>
          <a:solidFill>
            <a:srgbClr val="02C39A"/>
          </a:solidFill>
          <a:ln/>
        </p:spPr>
      </p:sp>
      <p:sp>
        <p:nvSpPr>
          <p:cNvPr id="23" name="Text 21"/>
          <p:cNvSpPr/>
          <p:nvPr/>
        </p:nvSpPr>
        <p:spPr>
          <a:xfrm>
            <a:off x="6547104" y="480060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4" name="Text 22"/>
          <p:cNvSpPr/>
          <p:nvPr/>
        </p:nvSpPr>
        <p:spPr>
          <a:xfrm>
            <a:off x="6922008" y="4709160"/>
            <a:ext cx="4736592" cy="457200"/>
          </a:xfrm>
          <a:prstGeom prst="rect">
            <a:avLst/>
          </a:prstGeom>
          <a:noFill/>
          <a:ln/>
        </p:spPr>
        <p:txBody>
          <a:bodyPr wrap="square" lIns="0" tIns="0" rIns="0" bIns="0" rtlCol="0" anchor="t"/>
          <a:lstStyle/>
          <a:p>
            <a:pPr indent="0" marL="0">
              <a:lnSpc>
                <a:spcPct val="112000"/>
              </a:lnSpc>
              <a:buNone/>
            </a:pPr>
            <a:r>
              <a:rPr lang="en-US" sz="1090" b="1" dirty="0">
                <a:solidFill>
                  <a:srgbClr val="1E2761"/>
                </a:solidFill>
                <a:latin typeface="Calibri" pitchFamily="34" charset="0"/>
                <a:ea typeface="Calibri" pitchFamily="34" charset="-122"/>
                <a:cs typeface="Calibri" pitchFamily="34" charset="-120"/>
              </a:rPr>
              <a:t>Yapısal eşzamanlılıkla bütünleşir  —  </a:t>
            </a:r>
            <a:pPr indent="0" marL="0">
              <a:lnSpc>
                <a:spcPct val="112000"/>
              </a:lnSpc>
              <a:buNone/>
            </a:pPr>
            <a:r>
              <a:rPr lang="en-US" sz="1090" dirty="0">
                <a:solidFill>
                  <a:srgbClr val="1B2440"/>
                </a:solidFill>
                <a:latin typeface="Calibri" pitchFamily="34" charset="0"/>
                <a:ea typeface="Calibri" pitchFamily="34" charset="-122"/>
                <a:cs typeface="Calibri" pitchFamily="34" charset="-120"/>
              </a:rPr>
              <a:t>StructuredTaskScope (JEP 505) alt görevlere bağlamı otomatik aktarır.</a:t>
            </a:r>
            <a:endParaRPr lang="en-US" sz="1090" dirty="0"/>
          </a:p>
        </p:txBody>
      </p:sp>
      <p:sp>
        <p:nvSpPr>
          <p:cNvPr id="25" name="Shape 23"/>
          <p:cNvSpPr/>
          <p:nvPr/>
        </p:nvSpPr>
        <p:spPr>
          <a:xfrm>
            <a:off x="548640" y="5349240"/>
            <a:ext cx="11064240" cy="1051560"/>
          </a:xfrm>
          <a:prstGeom prst="roundRect">
            <a:avLst>
              <a:gd name="adj" fmla="val 6957"/>
            </a:avLst>
          </a:prstGeom>
          <a:solidFill>
            <a:srgbClr val="FBEFEA"/>
          </a:solidFill>
          <a:ln w="12700">
            <a:solidFill>
              <a:srgbClr val="B85042"/>
            </a:solidFill>
            <a:prstDash val="solid"/>
          </a:ln>
        </p:spPr>
      </p:sp>
      <p:sp>
        <p:nvSpPr>
          <p:cNvPr id="26" name="Shape 24"/>
          <p:cNvSpPr/>
          <p:nvPr/>
        </p:nvSpPr>
        <p:spPr>
          <a:xfrm>
            <a:off x="978408" y="5618988"/>
            <a:ext cx="512064" cy="512064"/>
          </a:xfrm>
          <a:prstGeom prst="ellipse">
            <a:avLst/>
          </a:prstGeom>
          <a:solidFill>
            <a:srgbClr val="B85042"/>
          </a:solidFill>
          <a:ln/>
        </p:spPr>
      </p:sp>
      <p:sp>
        <p:nvSpPr>
          <p:cNvPr id="27" name="Text 25"/>
          <p:cNvSpPr/>
          <p:nvPr/>
        </p:nvSpPr>
        <p:spPr>
          <a:xfrm>
            <a:off x="978408" y="561898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a:t>
            </a:r>
            <a:endParaRPr lang="en-US" sz="2000" dirty="0"/>
          </a:p>
        </p:txBody>
      </p:sp>
      <p:sp>
        <p:nvSpPr>
          <p:cNvPr id="28" name="Text 26"/>
          <p:cNvSpPr/>
          <p:nvPr/>
        </p:nvSpPr>
        <p:spPr>
          <a:xfrm>
            <a:off x="1737360" y="5458968"/>
            <a:ext cx="9601200" cy="832104"/>
          </a:xfrm>
          <a:prstGeom prst="rect">
            <a:avLst/>
          </a:prstGeom>
          <a:noFill/>
          <a:ln/>
        </p:spPr>
        <p:txBody>
          <a:bodyPr wrap="square" lIns="0" tIns="0" rIns="0" bIns="0" rtlCol="0" anchor="t"/>
          <a:lstStyle/>
          <a:p>
            <a:pPr indent="0" marL="0">
              <a:lnSpc>
                <a:spcPct val="118000"/>
              </a:lnSpc>
              <a:buNone/>
            </a:pPr>
            <a:r>
              <a:rPr lang="en-US" sz="1160" b="1" dirty="0">
                <a:solidFill>
                  <a:srgbClr val="B85042"/>
                </a:solidFill>
                <a:latin typeface="Calibri" pitchFamily="34" charset="0"/>
                <a:ea typeface="Calibri" pitchFamily="34" charset="-122"/>
                <a:cs typeface="Calibri" pitchFamily="34" charset="-120"/>
              </a:rPr>
              <a:t>Dürüst not: </a:t>
            </a:r>
            <a:pPr indent="0" marL="0">
              <a:lnSpc>
                <a:spcPct val="118000"/>
              </a:lnSpc>
              <a:buNone/>
            </a:pPr>
            <a:r>
              <a:rPr lang="en-US" sz="1160" dirty="0">
                <a:solidFill>
                  <a:srgbClr val="1B2440"/>
                </a:solidFill>
                <a:latin typeface="Calibri" pitchFamily="34" charset="0"/>
                <a:ea typeface="Calibri" pitchFamily="34" charset="-122"/>
                <a:cs typeface="Calibri" pitchFamily="34" charset="-120"/>
              </a:rPr>
              <a:t>Bu geçiş dbs-platform'da henüz yapılmadı. Spring'in MDC/loglama entegrasyonu ve mevcut OncePerRequestFilter yapısı ThreadLocal varsayımıyla kurulu; bu yüzden roadmap'te bilinçli olarak 'sıradaki adım' diye işaretlendi (bkz. sonuç slaydı, madde 04).</a:t>
            </a:r>
            <a:endParaRPr lang="en-US" sz="1160" dirty="0"/>
          </a:p>
        </p:txBody>
      </p:sp>
      <p:sp>
        <p:nvSpPr>
          <p:cNvPr id="29" name="Text 2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30" name="Text 28"/>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JAVA 25 · ÇALIŞMA ZAMANI</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Aynı donanımdan daha fazlası</a:t>
            </a:r>
            <a:endParaRPr lang="en-US" sz="2800" dirty="0"/>
          </a:p>
        </p:txBody>
      </p:sp>
      <p:sp>
        <p:nvSpPr>
          <p:cNvPr id="4" name="Shape 2"/>
          <p:cNvSpPr/>
          <p:nvPr/>
        </p:nvSpPr>
        <p:spPr>
          <a:xfrm>
            <a:off x="548640" y="1645920"/>
            <a:ext cx="5349240" cy="2286000"/>
          </a:xfrm>
          <a:prstGeom prst="roundRect">
            <a:avLst>
              <a:gd name="adj" fmla="val 3600"/>
            </a:avLst>
          </a:prstGeom>
          <a:solidFill>
            <a:srgbClr val="141A46"/>
          </a:solidFill>
          <a:ln/>
        </p:spPr>
      </p:sp>
      <p:sp>
        <p:nvSpPr>
          <p:cNvPr id="5" name="Shape 3"/>
          <p:cNvSpPr/>
          <p:nvPr/>
        </p:nvSpPr>
        <p:spPr>
          <a:xfrm>
            <a:off x="864108" y="1897380"/>
            <a:ext cx="502920" cy="502920"/>
          </a:xfrm>
          <a:prstGeom prst="ellipse">
            <a:avLst/>
          </a:prstGeom>
          <a:solidFill>
            <a:srgbClr val="02C39A"/>
          </a:solidFill>
          <a:ln/>
        </p:spPr>
      </p:sp>
      <p:sp>
        <p:nvSpPr>
          <p:cNvPr id="6" name="Text 4"/>
          <p:cNvSpPr/>
          <p:nvPr/>
        </p:nvSpPr>
        <p:spPr>
          <a:xfrm>
            <a:off x="864108" y="1897380"/>
            <a:ext cx="502920" cy="502920"/>
          </a:xfrm>
          <a:prstGeom prst="rect">
            <a:avLst/>
          </a:prstGeom>
          <a:noFill/>
          <a:ln/>
        </p:spPr>
        <p:txBody>
          <a:bodyPr wrap="square" lIns="0" tIns="0" rIns="0" bIns="0" rtlCol="0" anchor="ctr"/>
          <a:lstStyle/>
          <a:p>
            <a:pPr algn="ctr" indent="0" marL="0">
              <a:buNone/>
            </a:pPr>
            <a:r>
              <a:rPr lang="en-US" sz="1500" b="1" dirty="0">
                <a:solidFill>
                  <a:srgbClr val="141A46"/>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554480" y="1865376"/>
            <a:ext cx="4114800" cy="5943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Compact Object Headers (JEP 519)</a:t>
            </a:r>
            <a:endParaRPr lang="en-US" sz="1300" dirty="0"/>
          </a:p>
        </p:txBody>
      </p:sp>
      <p:sp>
        <p:nvSpPr>
          <p:cNvPr id="8" name="Text 6"/>
          <p:cNvSpPr/>
          <p:nvPr/>
        </p:nvSpPr>
        <p:spPr>
          <a:xfrm>
            <a:off x="868680" y="2514600"/>
            <a:ext cx="4709160" cy="1234440"/>
          </a:xfrm>
          <a:prstGeom prst="rect">
            <a:avLst/>
          </a:prstGeom>
          <a:noFill/>
          <a:ln/>
        </p:spPr>
        <p:txBody>
          <a:bodyPr wrap="square" lIns="0" tIns="0" rIns="0" bIns="0"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Nesne başlıkları küçüldü — binlerce küçük record (MailAttachment) üretiyoruz. Not: varsayılan açık değil, -XX:+UseCompactObjectHeaders bayrağı gerekiyor.</a:t>
            </a:r>
            <a:endParaRPr lang="en-US" sz="1100" dirty="0"/>
          </a:p>
        </p:txBody>
      </p:sp>
      <p:sp>
        <p:nvSpPr>
          <p:cNvPr id="9" name="Shape 7"/>
          <p:cNvSpPr/>
          <p:nvPr/>
        </p:nvSpPr>
        <p:spPr>
          <a:xfrm>
            <a:off x="6263640" y="1645920"/>
            <a:ext cx="5349240" cy="2286000"/>
          </a:xfrm>
          <a:prstGeom prst="roundRect">
            <a:avLst>
              <a:gd name="adj" fmla="val 3600"/>
            </a:avLst>
          </a:prstGeom>
          <a:solidFill>
            <a:srgbClr val="141A46"/>
          </a:solidFill>
          <a:ln/>
        </p:spPr>
      </p:sp>
      <p:sp>
        <p:nvSpPr>
          <p:cNvPr id="10" name="Shape 8"/>
          <p:cNvSpPr/>
          <p:nvPr/>
        </p:nvSpPr>
        <p:spPr>
          <a:xfrm>
            <a:off x="6579108" y="1897380"/>
            <a:ext cx="502920" cy="502920"/>
          </a:xfrm>
          <a:prstGeom prst="ellipse">
            <a:avLst/>
          </a:prstGeom>
          <a:solidFill>
            <a:srgbClr val="02C39A"/>
          </a:solidFill>
          <a:ln/>
        </p:spPr>
      </p:sp>
      <p:sp>
        <p:nvSpPr>
          <p:cNvPr id="11" name="Text 9"/>
          <p:cNvSpPr/>
          <p:nvPr/>
        </p:nvSpPr>
        <p:spPr>
          <a:xfrm>
            <a:off x="6579108" y="1897380"/>
            <a:ext cx="502920" cy="502920"/>
          </a:xfrm>
          <a:prstGeom prst="rect">
            <a:avLst/>
          </a:prstGeom>
          <a:noFill/>
          <a:ln/>
        </p:spPr>
        <p:txBody>
          <a:bodyPr wrap="square" lIns="0" tIns="0" rIns="0" bIns="0" rtlCol="0" anchor="ctr"/>
          <a:lstStyle/>
          <a:p>
            <a:pPr algn="ctr" indent="0" marL="0">
              <a:buNone/>
            </a:pPr>
            <a:r>
              <a:rPr lang="en-US" sz="1500" b="1" dirty="0">
                <a:solidFill>
                  <a:srgbClr val="141A46"/>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7269480" y="1865376"/>
            <a:ext cx="4114800" cy="5943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Generational GC — ZGC ya da Shenandoah</a:t>
            </a:r>
            <a:endParaRPr lang="en-US" sz="1300" dirty="0"/>
          </a:p>
        </p:txBody>
      </p:sp>
      <p:sp>
        <p:nvSpPr>
          <p:cNvPr id="13" name="Text 11"/>
          <p:cNvSpPr/>
          <p:nvPr/>
        </p:nvSpPr>
        <p:spPr>
          <a:xfrm>
            <a:off x="6583680" y="2514600"/>
            <a:ext cx="4709160" cy="1234440"/>
          </a:xfrm>
          <a:prstGeom prst="rect">
            <a:avLst/>
          </a:prstGeom>
          <a:noFill/>
          <a:ln/>
        </p:spPr>
        <p:txBody>
          <a:bodyPr wrap="square" lIns="0" tIns="0" rIns="0" bIns="0"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İkisi alternatif, birlikte kullanılmaz. ZGC'de varsayılan (JEP 439); Shenandoah'ta JDK 25'te üretim özelliği oldu (JEP 521). Kısa ömürlü mail nesneleri hızlı toplanır.</a:t>
            </a:r>
            <a:endParaRPr lang="en-US" sz="1100" dirty="0"/>
          </a:p>
        </p:txBody>
      </p:sp>
      <p:sp>
        <p:nvSpPr>
          <p:cNvPr id="14" name="Shape 12"/>
          <p:cNvSpPr/>
          <p:nvPr/>
        </p:nvSpPr>
        <p:spPr>
          <a:xfrm>
            <a:off x="548640" y="4206240"/>
            <a:ext cx="5349240" cy="2286000"/>
          </a:xfrm>
          <a:prstGeom prst="roundRect">
            <a:avLst>
              <a:gd name="adj" fmla="val 3600"/>
            </a:avLst>
          </a:prstGeom>
          <a:solidFill>
            <a:srgbClr val="141A46"/>
          </a:solidFill>
          <a:ln/>
        </p:spPr>
      </p:sp>
      <p:sp>
        <p:nvSpPr>
          <p:cNvPr id="15" name="Shape 13"/>
          <p:cNvSpPr/>
          <p:nvPr/>
        </p:nvSpPr>
        <p:spPr>
          <a:xfrm>
            <a:off x="864108" y="4457700"/>
            <a:ext cx="502920" cy="502920"/>
          </a:xfrm>
          <a:prstGeom prst="ellipse">
            <a:avLst/>
          </a:prstGeom>
          <a:solidFill>
            <a:srgbClr val="02C39A"/>
          </a:solidFill>
          <a:ln/>
        </p:spPr>
      </p:sp>
      <p:sp>
        <p:nvSpPr>
          <p:cNvPr id="16" name="Text 14"/>
          <p:cNvSpPr/>
          <p:nvPr/>
        </p:nvSpPr>
        <p:spPr>
          <a:xfrm>
            <a:off x="864108" y="4457700"/>
            <a:ext cx="502920" cy="502920"/>
          </a:xfrm>
          <a:prstGeom prst="rect">
            <a:avLst/>
          </a:prstGeom>
          <a:noFill/>
          <a:ln/>
        </p:spPr>
        <p:txBody>
          <a:bodyPr wrap="square" lIns="0" tIns="0" rIns="0" bIns="0" rtlCol="0" anchor="ctr"/>
          <a:lstStyle/>
          <a:p>
            <a:pPr algn="ctr" indent="0" marL="0">
              <a:buNone/>
            </a:pPr>
            <a:r>
              <a:rPr lang="en-US" sz="1500" b="1" dirty="0">
                <a:solidFill>
                  <a:srgbClr val="141A46"/>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554480" y="4425696"/>
            <a:ext cx="4114800" cy="5943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AOT Sınıf Yükleme ve Profilleme</a:t>
            </a:r>
            <a:endParaRPr lang="en-US" sz="1300" dirty="0"/>
          </a:p>
        </p:txBody>
      </p:sp>
      <p:sp>
        <p:nvSpPr>
          <p:cNvPr id="18" name="Text 16"/>
          <p:cNvSpPr/>
          <p:nvPr/>
        </p:nvSpPr>
        <p:spPr>
          <a:xfrm>
            <a:off x="868680" y="5074920"/>
            <a:ext cx="4709160" cy="1234440"/>
          </a:xfrm>
          <a:prstGeom prst="rect">
            <a:avLst/>
          </a:prstGeom>
          <a:noFill/>
          <a:ln/>
        </p:spPr>
        <p:txBody>
          <a:bodyPr wrap="square" lIns="0" tIns="0" rIns="0" bIns="0"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JEP 483/514/515 — Project Leyden. Ölçülen örneklerde başlangıç %15-25 hızlanıyor. Kubernetes'te pod restart / autoscale'de doğrudan fayda.</a:t>
            </a:r>
            <a:endParaRPr lang="en-US" sz="1100" dirty="0"/>
          </a:p>
        </p:txBody>
      </p:sp>
      <p:sp>
        <p:nvSpPr>
          <p:cNvPr id="19" name="Shape 17"/>
          <p:cNvSpPr/>
          <p:nvPr/>
        </p:nvSpPr>
        <p:spPr>
          <a:xfrm>
            <a:off x="6263640" y="4206240"/>
            <a:ext cx="5349240" cy="2286000"/>
          </a:xfrm>
          <a:prstGeom prst="roundRect">
            <a:avLst>
              <a:gd name="adj" fmla="val 3600"/>
            </a:avLst>
          </a:prstGeom>
          <a:solidFill>
            <a:srgbClr val="141A46"/>
          </a:solidFill>
          <a:ln/>
        </p:spPr>
      </p:sp>
      <p:sp>
        <p:nvSpPr>
          <p:cNvPr id="20" name="Shape 18"/>
          <p:cNvSpPr/>
          <p:nvPr/>
        </p:nvSpPr>
        <p:spPr>
          <a:xfrm>
            <a:off x="6579108" y="4457700"/>
            <a:ext cx="502920" cy="502920"/>
          </a:xfrm>
          <a:prstGeom prst="ellipse">
            <a:avLst/>
          </a:prstGeom>
          <a:solidFill>
            <a:srgbClr val="02C39A"/>
          </a:solidFill>
          <a:ln/>
        </p:spPr>
      </p:sp>
      <p:sp>
        <p:nvSpPr>
          <p:cNvPr id="21" name="Text 19"/>
          <p:cNvSpPr/>
          <p:nvPr/>
        </p:nvSpPr>
        <p:spPr>
          <a:xfrm>
            <a:off x="6579108" y="4457700"/>
            <a:ext cx="502920" cy="502920"/>
          </a:xfrm>
          <a:prstGeom prst="rect">
            <a:avLst/>
          </a:prstGeom>
          <a:noFill/>
          <a:ln/>
        </p:spPr>
        <p:txBody>
          <a:bodyPr wrap="square" lIns="0" tIns="0" rIns="0" bIns="0" rtlCol="0" anchor="ctr"/>
          <a:lstStyle/>
          <a:p>
            <a:pPr algn="ctr" indent="0" marL="0">
              <a:buNone/>
            </a:pPr>
            <a:r>
              <a:rPr lang="en-US" sz="1500" b="1" dirty="0">
                <a:solidFill>
                  <a:srgbClr val="141A46"/>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7269480" y="4425696"/>
            <a:ext cx="4114800" cy="5943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G1 İyileştirmeleri (JEP 475)</a:t>
            </a:r>
            <a:endParaRPr lang="en-US" sz="1300" dirty="0"/>
          </a:p>
        </p:txBody>
      </p:sp>
      <p:sp>
        <p:nvSpPr>
          <p:cNvPr id="23" name="Text 21"/>
          <p:cNvSpPr/>
          <p:nvPr/>
        </p:nvSpPr>
        <p:spPr>
          <a:xfrm>
            <a:off x="6583680" y="5074920"/>
            <a:ext cx="4709160" cy="1234440"/>
          </a:xfrm>
          <a:prstGeom prst="rect">
            <a:avLst/>
          </a:prstGeom>
          <a:noFill/>
          <a:ln/>
        </p:spPr>
        <p:txBody>
          <a:bodyPr wrap="square" lIns="0" tIns="0" rIns="0" bIns="0"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Varsayılan toplayıcıda düşük hacimli iş yükleri için daha az ve daha öngörülebilir duraklama.</a:t>
            </a:r>
            <a:endParaRPr lang="en-US" sz="1100" dirty="0"/>
          </a:p>
        </p:txBody>
      </p:sp>
      <p:sp>
        <p:nvSpPr>
          <p:cNvPr id="24" name="Text 2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25" name="Text 23"/>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JAVA 25 · KULLANILAN DIL ÖZELLIKLERI</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Sealed Interface + Pattern Matching</a:t>
            </a:r>
            <a:endParaRPr lang="en-US" sz="2800" dirty="0"/>
          </a:p>
        </p:txBody>
      </p:sp>
      <p:sp>
        <p:nvSpPr>
          <p:cNvPr id="4" name="Shape 2"/>
          <p:cNvSpPr/>
          <p:nvPr/>
        </p:nvSpPr>
        <p:spPr>
          <a:xfrm>
            <a:off x="548640" y="1572768"/>
            <a:ext cx="6400800" cy="2264283"/>
          </a:xfrm>
          <a:prstGeom prst="roundRect">
            <a:avLst>
              <a:gd name="adj" fmla="val 3231"/>
            </a:avLst>
          </a:prstGeom>
          <a:solidFill>
            <a:srgbClr val="141A46"/>
          </a:solidFill>
          <a:ln/>
        </p:spPr>
      </p:sp>
      <p:sp>
        <p:nvSpPr>
          <p:cNvPr id="5" name="Text 3"/>
          <p:cNvSpPr/>
          <p:nvPr/>
        </p:nvSpPr>
        <p:spPr>
          <a:xfrm>
            <a:off x="749808" y="1719072"/>
            <a:ext cx="5998464" cy="1971675"/>
          </a:xfrm>
          <a:prstGeom prst="rect">
            <a:avLst/>
          </a:prstGeom>
          <a:noFill/>
          <a:ln/>
        </p:spPr>
        <p:txBody>
          <a:bodyPr wrap="square" lIns="0" tIns="0" rIns="0" bIns="0" rtlCol="0" anchor="t"/>
          <a:lstStyle/>
          <a:p>
            <a:pPr algn="l" indent="0" marL="0">
              <a:lnSpc>
                <a:spcPct val="118000"/>
              </a:lnSpc>
              <a:buNone/>
            </a:pPr>
            <a:r>
              <a:rPr lang="en-US" sz="1250" dirty="0">
                <a:solidFill>
                  <a:srgbClr val="D7F7EC"/>
                </a:solidFill>
                <a:latin typeface="Courier New" pitchFamily="34" charset="0"/>
                <a:ea typeface="Courier New" pitchFamily="34" charset="-122"/>
                <a:cs typeface="Courier New" pitchFamily="34" charset="-120"/>
              </a:rPr>
              <a:t>sealed interface ProcessingOutcome</a:t>
            </a:r>
            <a:endParaRPr lang="en-US" sz="1250" dirty="0"/>
          </a:p>
          <a:p>
            <a:pPr algn="l" indent="0" marL="0">
              <a:lnSpc>
                <a:spcPct val="118000"/>
              </a:lnSpc>
              <a:buNone/>
            </a:pPr>
            <a:r>
              <a:rPr lang="en-US" sz="1250" dirty="0">
                <a:solidFill>
                  <a:srgbClr val="D7F7EC"/>
                </a:solidFill>
                <a:latin typeface="Courier New" pitchFamily="34" charset="0"/>
                <a:ea typeface="Courier New" pitchFamily="34" charset="-122"/>
                <a:cs typeface="Courier New" pitchFamily="34" charset="-120"/>
              </a:rPr>
              <a:t>    permits Processed, Skipped, Rejected, Failed {}</a:t>
            </a:r>
            <a:endParaRPr lang="en-US" sz="1250" dirty="0"/>
          </a:p>
          <a:p>
            <a:pPr algn="l" indent="0" marL="0">
              <a:lnSpc>
                <a:spcPct val="118000"/>
              </a:lnSpc>
              <a:buNone/>
            </a:pPr>
            <a:endParaRPr lang="en-US" sz="1250" dirty="0"/>
          </a:p>
          <a:p>
            <a:pPr algn="l" indent="0" marL="0">
              <a:lnSpc>
                <a:spcPct val="118000"/>
              </a:lnSpc>
              <a:buNone/>
            </a:pPr>
            <a:r>
              <a:rPr lang="en-US" sz="1250" dirty="0">
                <a:solidFill>
                  <a:srgbClr val="D7F7EC"/>
                </a:solidFill>
                <a:latin typeface="Courier New" pitchFamily="34" charset="0"/>
                <a:ea typeface="Courier New" pitchFamily="34" charset="-122"/>
                <a:cs typeface="Courier New" pitchFamily="34" charset="-120"/>
              </a:rPr>
              <a:t>switch (verdict) {</a:t>
            </a:r>
            <a:endParaRPr lang="en-US" sz="1250" dirty="0"/>
          </a:p>
          <a:p>
            <a:pPr algn="l" indent="0" marL="0">
              <a:lnSpc>
                <a:spcPct val="118000"/>
              </a:lnSpc>
              <a:buNone/>
            </a:pPr>
            <a:r>
              <a:rPr lang="en-US" sz="1250" dirty="0">
                <a:solidFill>
                  <a:srgbClr val="D7F7EC"/>
                </a:solidFill>
                <a:latin typeface="Courier New" pitchFamily="34" charset="0"/>
                <a:ea typeface="Courier New" pitchFamily="34" charset="-122"/>
                <a:cs typeface="Courier New" pitchFamily="34" charset="-120"/>
              </a:rPr>
              <a:t>  case Verdict.Skip s    -&gt; log.info("atlandi");</a:t>
            </a:r>
            <a:endParaRPr lang="en-US" sz="1250" dirty="0"/>
          </a:p>
          <a:p>
            <a:pPr algn="l" indent="0" marL="0">
              <a:lnSpc>
                <a:spcPct val="118000"/>
              </a:lnSpc>
              <a:buNone/>
            </a:pPr>
            <a:r>
              <a:rPr lang="en-US" sz="1250" dirty="0">
                <a:solidFill>
                  <a:srgbClr val="D7F7EC"/>
                </a:solidFill>
                <a:latin typeface="Courier New" pitchFamily="34" charset="0"/>
                <a:ea typeface="Courier New" pitchFamily="34" charset="-122"/>
                <a:cs typeface="Courier New" pitchFamily="34" charset="-120"/>
              </a:rPr>
              <a:t>  case Verdict.Reject r  -&gt; notify(r);</a:t>
            </a:r>
            <a:endParaRPr lang="en-US" sz="1250" dirty="0"/>
          </a:p>
          <a:p>
            <a:pPr algn="l" indent="0" marL="0">
              <a:lnSpc>
                <a:spcPct val="118000"/>
              </a:lnSpc>
              <a:buNone/>
            </a:pPr>
            <a:r>
              <a:rPr lang="en-US" sz="1250" dirty="0">
                <a:solidFill>
                  <a:srgbClr val="D7F7EC"/>
                </a:solidFill>
                <a:latin typeface="Courier New" pitchFamily="34" charset="0"/>
                <a:ea typeface="Courier New" pitchFamily="34" charset="-122"/>
                <a:cs typeface="Courier New" pitchFamily="34" charset="-120"/>
              </a:rPr>
              <a:t>  case Verdict.Accept a  -&gt; store(a);</a:t>
            </a:r>
            <a:endParaRPr lang="en-US" sz="1250" dirty="0"/>
          </a:p>
          <a:p>
            <a:pPr algn="l" indent="0" marL="0">
              <a:lnSpc>
                <a:spcPct val="118000"/>
              </a:lnSpc>
              <a:buNone/>
            </a:pPr>
            <a:r>
              <a:rPr lang="en-US" sz="1250" dirty="0">
                <a:solidFill>
                  <a:srgbClr val="D7F7EC"/>
                </a:solidFill>
                <a:latin typeface="Courier New" pitchFamily="34" charset="0"/>
                <a:ea typeface="Courier New" pitchFamily="34" charset="-122"/>
                <a:cs typeface="Courier New" pitchFamily="34" charset="-120"/>
              </a:rPr>
              <a:t>}</a:t>
            </a:r>
            <a:endParaRPr lang="en-US" sz="1250" dirty="0"/>
          </a:p>
          <a:p>
            <a:pPr algn="l" indent="0" marL="0">
              <a:lnSpc>
                <a:spcPct val="118000"/>
              </a:lnSpc>
              <a:buNone/>
            </a:pPr>
            <a:r>
              <a:rPr lang="en-US" sz="1250" dirty="0">
                <a:solidFill>
                  <a:srgbClr val="D7F7EC"/>
                </a:solidFill>
                <a:latin typeface="Courier New" pitchFamily="34" charset="0"/>
                <a:ea typeface="Courier New" pitchFamily="34" charset="-122"/>
                <a:cs typeface="Courier New" pitchFamily="34" charset="-120"/>
              </a:rPr>
              <a:t>// default yok — derleyici tum durumlari zorunlu kilar</a:t>
            </a:r>
            <a:endParaRPr lang="en-US" sz="1250" dirty="0"/>
          </a:p>
        </p:txBody>
      </p:sp>
      <p:sp>
        <p:nvSpPr>
          <p:cNvPr id="6" name="Text 4"/>
          <p:cNvSpPr/>
          <p:nvPr/>
        </p:nvSpPr>
        <p:spPr>
          <a:xfrm>
            <a:off x="548640" y="4038219"/>
            <a:ext cx="6400800" cy="1280160"/>
          </a:xfrm>
          <a:prstGeom prst="rect">
            <a:avLst/>
          </a:prstGeom>
          <a:noFill/>
          <a:ln/>
        </p:spPr>
        <p:txBody>
          <a:bodyPr wrap="square" lIns="0" tIns="0" rIns="0" bIns="0" rtlCol="0" anchor="ctr"/>
          <a:lstStyle/>
          <a:p>
            <a:pPr indent="0" marL="0">
              <a:lnSpc>
                <a:spcPct val="122000"/>
              </a:lnSpc>
              <a:buNone/>
            </a:pPr>
            <a:r>
              <a:rPr lang="en-US" sz="1230" dirty="0">
                <a:solidFill>
                  <a:srgbClr val="1B2440"/>
                </a:solidFill>
                <a:latin typeface="Calibri" pitchFamily="34" charset="0"/>
                <a:ea typeface="Calibri" pitchFamily="34" charset="-122"/>
                <a:cs typeface="Calibri" pitchFamily="34" charset="-120"/>
              </a:rPr>
              <a:t>Legacy'deki int / String kod döndüren yaklaşımın yerini alıyor. Yarın ProcessingOutcome'a beşinci bir alt tip eklenirse, bu switch'i barındıran her yer derleme hatası verir — çalışma zamanında sessizce yanlış davranmaz, geliştirme zamanında patlar.</a:t>
            </a:r>
            <a:endParaRPr lang="en-US" sz="1230" dirty="0"/>
          </a:p>
        </p:txBody>
      </p:sp>
      <p:sp>
        <p:nvSpPr>
          <p:cNvPr id="7" name="Shape 5"/>
          <p:cNvSpPr/>
          <p:nvPr/>
        </p:nvSpPr>
        <p:spPr>
          <a:xfrm>
            <a:off x="7178040" y="1572768"/>
            <a:ext cx="0" cy="4572000"/>
          </a:xfrm>
          <a:prstGeom prst="line">
            <a:avLst/>
          </a:prstGeom>
          <a:noFill/>
          <a:ln w="12700">
            <a:solidFill>
              <a:srgbClr val="D7DEEE"/>
            </a:solidFill>
            <a:prstDash val="solid"/>
          </a:ln>
        </p:spPr>
      </p:sp>
      <p:sp>
        <p:nvSpPr>
          <p:cNvPr id="8" name="Shape 6"/>
          <p:cNvSpPr/>
          <p:nvPr/>
        </p:nvSpPr>
        <p:spPr>
          <a:xfrm>
            <a:off x="7452360" y="1572768"/>
            <a:ext cx="4160520" cy="1508760"/>
          </a:xfrm>
          <a:prstGeom prst="roundRect">
            <a:avLst>
              <a:gd name="adj" fmla="val 4848"/>
            </a:avLst>
          </a:prstGeom>
          <a:solidFill>
            <a:srgbClr val="FFFFFF"/>
          </a:solidFill>
          <a:ln w="12700">
            <a:solidFill>
              <a:srgbClr val="E1E7F3"/>
            </a:solidFill>
            <a:prstDash val="solid"/>
          </a:ln>
        </p:spPr>
      </p:sp>
      <p:sp>
        <p:nvSpPr>
          <p:cNvPr id="9" name="Text 7"/>
          <p:cNvSpPr/>
          <p:nvPr/>
        </p:nvSpPr>
        <p:spPr>
          <a:xfrm>
            <a:off x="7680960" y="1700784"/>
            <a:ext cx="3749040" cy="292608"/>
          </a:xfrm>
          <a:prstGeom prst="rect">
            <a:avLst/>
          </a:prstGeom>
          <a:noFill/>
          <a:ln/>
        </p:spPr>
        <p:txBody>
          <a:bodyPr wrap="square" lIns="0" tIns="0" rIns="0" bIns="0" rtlCol="0" anchor="ctr"/>
          <a:lstStyle/>
          <a:p>
            <a:pPr indent="0" marL="0">
              <a:buNone/>
            </a:pPr>
            <a:r>
              <a:rPr lang="en-US" sz="1300" b="1" dirty="0">
                <a:solidFill>
                  <a:srgbClr val="028090"/>
                </a:solidFill>
                <a:latin typeface="Cambria" pitchFamily="34" charset="0"/>
                <a:ea typeface="Cambria" pitchFamily="34" charset="-122"/>
                <a:cs typeface="Cambria" pitchFamily="34" charset="-120"/>
              </a:rPr>
              <a:t>Sealed Classes — JEP 409</a:t>
            </a:r>
            <a:endParaRPr lang="en-US" sz="1300" dirty="0"/>
          </a:p>
        </p:txBody>
      </p:sp>
      <p:sp>
        <p:nvSpPr>
          <p:cNvPr id="10" name="Text 8"/>
          <p:cNvSpPr/>
          <p:nvPr/>
        </p:nvSpPr>
        <p:spPr>
          <a:xfrm>
            <a:off x="7680960" y="1993392"/>
            <a:ext cx="3749040" cy="1005840"/>
          </a:xfrm>
          <a:prstGeom prst="rect">
            <a:avLst/>
          </a:prstGeom>
          <a:noFill/>
          <a:ln/>
        </p:spPr>
        <p:txBody>
          <a:bodyPr wrap="square" lIns="0" tIns="0" rIns="0" bIns="0" rtlCol="0" anchor="ctr"/>
          <a:lstStyle/>
          <a:p>
            <a:pPr indent="0" marL="0">
              <a:lnSpc>
                <a:spcPct val="118000"/>
              </a:lnSpc>
              <a:buNone/>
            </a:pPr>
            <a:r>
              <a:rPr lang="en-US" sz="1080" dirty="0">
                <a:solidFill>
                  <a:srgbClr val="1B2440"/>
                </a:solidFill>
                <a:latin typeface="Calibri" pitchFamily="34" charset="0"/>
                <a:ea typeface="Calibri" pitchFamily="34" charset="-122"/>
                <a:cs typeface="Calibri" pitchFamily="34" charset="-120"/>
              </a:rPr>
              <a:t>JDK 17'de finalize. Bir tipin hangi alt tiplerin onu implemente edebileceğini kapalı bir liste (permits) olarak tanımlar.</a:t>
            </a:r>
            <a:endParaRPr lang="en-US" sz="1080" dirty="0"/>
          </a:p>
        </p:txBody>
      </p:sp>
      <p:sp>
        <p:nvSpPr>
          <p:cNvPr id="11" name="Shape 9"/>
          <p:cNvSpPr/>
          <p:nvPr/>
        </p:nvSpPr>
        <p:spPr>
          <a:xfrm>
            <a:off x="7452360" y="3246120"/>
            <a:ext cx="4160520" cy="1508760"/>
          </a:xfrm>
          <a:prstGeom prst="roundRect">
            <a:avLst>
              <a:gd name="adj" fmla="val 4848"/>
            </a:avLst>
          </a:prstGeom>
          <a:solidFill>
            <a:srgbClr val="FFFFFF"/>
          </a:solidFill>
          <a:ln w="12700">
            <a:solidFill>
              <a:srgbClr val="E1E7F3"/>
            </a:solidFill>
            <a:prstDash val="solid"/>
          </a:ln>
        </p:spPr>
      </p:sp>
      <p:sp>
        <p:nvSpPr>
          <p:cNvPr id="12" name="Text 10"/>
          <p:cNvSpPr/>
          <p:nvPr/>
        </p:nvSpPr>
        <p:spPr>
          <a:xfrm>
            <a:off x="7680960" y="3374136"/>
            <a:ext cx="3749040" cy="292608"/>
          </a:xfrm>
          <a:prstGeom prst="rect">
            <a:avLst/>
          </a:prstGeom>
          <a:noFill/>
          <a:ln/>
        </p:spPr>
        <p:txBody>
          <a:bodyPr wrap="square" lIns="0" tIns="0" rIns="0" bIns="0" rtlCol="0" anchor="ctr"/>
          <a:lstStyle/>
          <a:p>
            <a:pPr indent="0" marL="0">
              <a:buNone/>
            </a:pPr>
            <a:r>
              <a:rPr lang="en-US" sz="1300" b="1" dirty="0">
                <a:solidFill>
                  <a:srgbClr val="028090"/>
                </a:solidFill>
                <a:latin typeface="Cambria" pitchFamily="34" charset="0"/>
                <a:ea typeface="Cambria" pitchFamily="34" charset="-122"/>
                <a:cs typeface="Cambria" pitchFamily="34" charset="-120"/>
              </a:rPr>
              <a:t>Pattern Matching — JEP 441</a:t>
            </a:r>
            <a:endParaRPr lang="en-US" sz="1300" dirty="0"/>
          </a:p>
        </p:txBody>
      </p:sp>
      <p:sp>
        <p:nvSpPr>
          <p:cNvPr id="13" name="Text 11"/>
          <p:cNvSpPr/>
          <p:nvPr/>
        </p:nvSpPr>
        <p:spPr>
          <a:xfrm>
            <a:off x="7680960" y="3666744"/>
            <a:ext cx="3749040" cy="1005840"/>
          </a:xfrm>
          <a:prstGeom prst="rect">
            <a:avLst/>
          </a:prstGeom>
          <a:noFill/>
          <a:ln/>
        </p:spPr>
        <p:txBody>
          <a:bodyPr wrap="square" lIns="0" tIns="0" rIns="0" bIns="0" rtlCol="0" anchor="ctr"/>
          <a:lstStyle/>
          <a:p>
            <a:pPr indent="0" marL="0">
              <a:lnSpc>
                <a:spcPct val="118000"/>
              </a:lnSpc>
              <a:buNone/>
            </a:pPr>
            <a:r>
              <a:rPr lang="en-US" sz="1080" dirty="0">
                <a:solidFill>
                  <a:srgbClr val="1B2440"/>
                </a:solidFill>
                <a:latin typeface="Calibri" pitchFamily="34" charset="0"/>
                <a:ea typeface="Calibri" pitchFamily="34" charset="-122"/>
                <a:cs typeface="Calibri" pitchFamily="34" charset="-120"/>
              </a:rPr>
              <a:t>JDK 21'de finalize. Switch, sealed bir tipin tüm alt tiplerini kapsadığında exhaustive kabul edilir; default dalına ihtiyaç kalmaz.</a:t>
            </a:r>
            <a:endParaRPr lang="en-US" sz="1080" dirty="0"/>
          </a:p>
        </p:txBody>
      </p:sp>
      <p:sp>
        <p:nvSpPr>
          <p:cNvPr id="14" name="Shape 12"/>
          <p:cNvSpPr/>
          <p:nvPr/>
        </p:nvSpPr>
        <p:spPr>
          <a:xfrm>
            <a:off x="7452360" y="4937760"/>
            <a:ext cx="4160520" cy="292608"/>
          </a:xfrm>
          <a:prstGeom prst="roundRect">
            <a:avLst>
              <a:gd name="adj" fmla="val 50000"/>
            </a:avLst>
          </a:prstGeom>
          <a:solidFill>
            <a:srgbClr val="1E2761"/>
          </a:solidFill>
          <a:ln/>
        </p:spPr>
      </p:sp>
      <p:sp>
        <p:nvSpPr>
          <p:cNvPr id="15" name="Text 13"/>
          <p:cNvSpPr/>
          <p:nvPr/>
        </p:nvSpPr>
        <p:spPr>
          <a:xfrm>
            <a:off x="7452360" y="4937760"/>
            <a:ext cx="4160520" cy="292608"/>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İleri adım: record pattern (JEP 440)</a:t>
            </a:r>
            <a:endParaRPr lang="en-US" sz="1050" dirty="0"/>
          </a:p>
        </p:txBody>
      </p:sp>
      <p:sp>
        <p:nvSpPr>
          <p:cNvPr id="16" name="Shape 14"/>
          <p:cNvSpPr/>
          <p:nvPr/>
        </p:nvSpPr>
        <p:spPr>
          <a:xfrm>
            <a:off x="548640" y="5349240"/>
            <a:ext cx="11064240" cy="1051560"/>
          </a:xfrm>
          <a:prstGeom prst="roundRect">
            <a:avLst>
              <a:gd name="adj" fmla="val 6957"/>
            </a:avLst>
          </a:prstGeom>
          <a:solidFill>
            <a:srgbClr val="EAF7F2"/>
          </a:solidFill>
          <a:ln w="12700">
            <a:solidFill>
              <a:srgbClr val="02C39A"/>
            </a:solidFill>
            <a:prstDash val="solid"/>
          </a:ln>
        </p:spPr>
      </p:sp>
      <p:sp>
        <p:nvSpPr>
          <p:cNvPr id="17" name="Shape 15"/>
          <p:cNvSpPr/>
          <p:nvPr/>
        </p:nvSpPr>
        <p:spPr>
          <a:xfrm>
            <a:off x="978408" y="5618988"/>
            <a:ext cx="512064" cy="512064"/>
          </a:xfrm>
          <a:prstGeom prst="ellipse">
            <a:avLst/>
          </a:prstGeom>
          <a:solidFill>
            <a:srgbClr val="028090"/>
          </a:solidFill>
          <a:ln/>
        </p:spPr>
      </p:sp>
      <p:sp>
        <p:nvSpPr>
          <p:cNvPr id="18" name="Text 16"/>
          <p:cNvSpPr/>
          <p:nvPr/>
        </p:nvSpPr>
        <p:spPr>
          <a:xfrm>
            <a:off x="978408" y="561898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1737360" y="5458968"/>
            <a:ext cx="9601200" cy="832104"/>
          </a:xfrm>
          <a:prstGeom prst="rect">
            <a:avLst/>
          </a:prstGeom>
          <a:noFill/>
          <a:ln/>
        </p:spPr>
        <p:txBody>
          <a:bodyPr wrap="square" lIns="0" tIns="0" rIns="0" bIns="0" rtlCol="0" anchor="t"/>
          <a:lstStyle/>
          <a:p>
            <a:pPr indent="0" marL="0">
              <a:lnSpc>
                <a:spcPct val="118000"/>
              </a:lnSpc>
              <a:buNone/>
            </a:pPr>
            <a:r>
              <a:rPr lang="en-US" sz="1160" b="1" dirty="0">
                <a:solidFill>
                  <a:srgbClr val="028090"/>
                </a:solidFill>
                <a:latin typeface="Calibri" pitchFamily="34" charset="0"/>
                <a:ea typeface="Calibri" pitchFamily="34" charset="-122"/>
                <a:cs typeface="Calibri" pitchFamily="34" charset="-120"/>
              </a:rPr>
              <a:t>Sonuç: </a:t>
            </a:r>
            <a:pPr indent="0" marL="0">
              <a:lnSpc>
                <a:spcPct val="118000"/>
              </a:lnSpc>
              <a:buNone/>
            </a:pPr>
            <a:r>
              <a:rPr lang="en-US" sz="1160" dirty="0">
                <a:solidFill>
                  <a:srgbClr val="1B2440"/>
                </a:solidFill>
                <a:latin typeface="Calibri" pitchFamily="34" charset="0"/>
                <a:ea typeface="Calibri" pitchFamily="34" charset="-122"/>
                <a:cs typeface="Calibri" pitchFamily="34" charset="-120"/>
              </a:rPr>
              <a:t>Bir 'unutulan case' hatası artık çalışma zamanında bir kullanıcıyı etkilemeden, derleme zamanında geliştiriciyi durduruyor. Legacy'de bu sınıf hatalar üretimde ortaya çıkardı.</a:t>
            </a:r>
            <a:endParaRPr lang="en-US" sz="1160" dirty="0"/>
          </a:p>
        </p:txBody>
      </p:sp>
      <p:sp>
        <p:nvSpPr>
          <p:cNvPr id="20" name="Text 1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21" name="Text 19"/>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JAVA 25 · KULLANILAN DIL ÖZELLIKLERI</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Küçük ama Etkili Değişiklikler</a:t>
            </a:r>
            <a:endParaRPr lang="en-US" sz="2800" dirty="0"/>
          </a:p>
        </p:txBody>
      </p:sp>
      <p:sp>
        <p:nvSpPr>
          <p:cNvPr id="4" name="Shape 2"/>
          <p:cNvSpPr/>
          <p:nvPr/>
        </p:nvSpPr>
        <p:spPr>
          <a:xfrm>
            <a:off x="548640" y="1691640"/>
            <a:ext cx="3520440" cy="3566160"/>
          </a:xfrm>
          <a:prstGeom prst="roundRect">
            <a:avLst>
              <a:gd name="adj" fmla="val 2338"/>
            </a:avLst>
          </a:prstGeom>
          <a:solidFill>
            <a:srgbClr val="FFFFFF"/>
          </a:solidFill>
          <a:ln w="12700">
            <a:solidFill>
              <a:srgbClr val="E1E7F3"/>
            </a:solidFill>
            <a:prstDash val="solid"/>
          </a:ln>
          <a:effectLst>
            <a:outerShdw sx="100000" sy="100000" kx="0" ky="0" algn="bl" rotWithShape="0" blurRad="101600" dist="38100" dir="5400000">
              <a:srgbClr val="1E2761">
                <a:alpha val="10000"/>
              </a:srgbClr>
            </a:outerShdw>
          </a:effectLst>
        </p:spPr>
      </p:sp>
      <p:sp>
        <p:nvSpPr>
          <p:cNvPr id="5" name="Text 3"/>
          <p:cNvSpPr/>
          <p:nvPr/>
        </p:nvSpPr>
        <p:spPr>
          <a:xfrm>
            <a:off x="822960" y="1947672"/>
            <a:ext cx="2971800" cy="36576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SequencedCollection</a:t>
            </a:r>
            <a:endParaRPr lang="en-US" sz="1550" dirty="0"/>
          </a:p>
        </p:txBody>
      </p:sp>
      <p:sp>
        <p:nvSpPr>
          <p:cNvPr id="6" name="Shape 4"/>
          <p:cNvSpPr/>
          <p:nvPr/>
        </p:nvSpPr>
        <p:spPr>
          <a:xfrm>
            <a:off x="822960" y="2350008"/>
            <a:ext cx="2286000" cy="292608"/>
          </a:xfrm>
          <a:prstGeom prst="roundRect">
            <a:avLst>
              <a:gd name="adj" fmla="val 50000"/>
            </a:avLst>
          </a:prstGeom>
          <a:solidFill>
            <a:srgbClr val="EAF7F2"/>
          </a:solidFill>
          <a:ln/>
        </p:spPr>
      </p:sp>
      <p:sp>
        <p:nvSpPr>
          <p:cNvPr id="7" name="Text 5"/>
          <p:cNvSpPr/>
          <p:nvPr/>
        </p:nvSpPr>
        <p:spPr>
          <a:xfrm>
            <a:off x="822960" y="2350008"/>
            <a:ext cx="2286000" cy="292608"/>
          </a:xfrm>
          <a:prstGeom prst="rect">
            <a:avLst/>
          </a:prstGeom>
          <a:noFill/>
          <a:ln/>
        </p:spPr>
        <p:txBody>
          <a:bodyPr wrap="square" lIns="0" tIns="0" rIns="0" bIns="0" rtlCol="0" anchor="ctr"/>
          <a:lstStyle/>
          <a:p>
            <a:pPr algn="ctr" indent="0" marL="0">
              <a:buNone/>
            </a:pPr>
            <a:r>
              <a:rPr lang="en-US" sz="950" b="1" dirty="0">
                <a:solidFill>
                  <a:srgbClr val="028090"/>
                </a:solidFill>
                <a:latin typeface="Calibri" pitchFamily="34" charset="0"/>
                <a:ea typeface="Calibri" pitchFamily="34" charset="-122"/>
                <a:cs typeface="Calibri" pitchFamily="34" charset="-120"/>
              </a:rPr>
              <a:t>JEP 431 · JDK 21</a:t>
            </a:r>
            <a:endParaRPr lang="en-US" sz="950" dirty="0"/>
          </a:p>
        </p:txBody>
      </p:sp>
      <p:sp>
        <p:nvSpPr>
          <p:cNvPr id="8" name="Shape 6"/>
          <p:cNvSpPr/>
          <p:nvPr/>
        </p:nvSpPr>
        <p:spPr>
          <a:xfrm>
            <a:off x="822960" y="2788920"/>
            <a:ext cx="2971800" cy="502920"/>
          </a:xfrm>
          <a:prstGeom prst="roundRect">
            <a:avLst>
              <a:gd name="adj" fmla="val 14545"/>
            </a:avLst>
          </a:prstGeom>
          <a:solidFill>
            <a:srgbClr val="141A46"/>
          </a:solidFill>
          <a:ln/>
        </p:spPr>
      </p:sp>
      <p:sp>
        <p:nvSpPr>
          <p:cNvPr id="9" name="Text 7"/>
          <p:cNvSpPr/>
          <p:nvPr/>
        </p:nvSpPr>
        <p:spPr>
          <a:xfrm>
            <a:off x="1024128" y="2935224"/>
            <a:ext cx="2569464" cy="210312"/>
          </a:xfrm>
          <a:prstGeom prst="rect">
            <a:avLst/>
          </a:prstGeom>
          <a:noFill/>
          <a:ln/>
        </p:spPr>
        <p:txBody>
          <a:bodyPr wrap="square" lIns="0" tIns="0" rIns="0" bIns="0" rtlCol="0" anchor="t"/>
          <a:lstStyle/>
          <a:p>
            <a:pPr algn="l" indent="0" marL="0">
              <a:lnSpc>
                <a:spcPct val="118000"/>
              </a:lnSpc>
              <a:buNone/>
            </a:pPr>
            <a:r>
              <a:rPr lang="en-US" sz="1050" dirty="0">
                <a:solidFill>
                  <a:srgbClr val="D7F7EC"/>
                </a:solidFill>
                <a:latin typeface="Courier New" pitchFamily="34" charset="0"/>
                <a:ea typeface="Courier New" pitchFamily="34" charset="-122"/>
                <a:cs typeface="Courier New" pitchFamily="34" charset="-120"/>
              </a:rPr>
              <a:t>rows.getFirst()</a:t>
            </a:r>
            <a:endParaRPr lang="en-US" sz="1050" dirty="0"/>
          </a:p>
        </p:txBody>
      </p:sp>
      <p:sp>
        <p:nvSpPr>
          <p:cNvPr id="10" name="Text 8"/>
          <p:cNvSpPr/>
          <p:nvPr/>
        </p:nvSpPr>
        <p:spPr>
          <a:xfrm>
            <a:off x="822960" y="3474720"/>
            <a:ext cx="2971800" cy="1645920"/>
          </a:xfrm>
          <a:prstGeom prst="rect">
            <a:avLst/>
          </a:prstGeom>
          <a:noFill/>
          <a:ln/>
        </p:spPr>
        <p:txBody>
          <a:bodyPr wrap="square" lIns="0" tIns="0" rIns="0" bIns="0" rtlCol="0" anchor="ctr"/>
          <a:lstStyle/>
          <a:p>
            <a:pPr indent="0" marL="0">
              <a:lnSpc>
                <a:spcPct val="122000"/>
              </a:lnSpc>
              <a:buNone/>
            </a:pPr>
            <a:r>
              <a:rPr lang="en-US" sz="1100" dirty="0">
                <a:solidFill>
                  <a:srgbClr val="1B2440"/>
                </a:solidFill>
                <a:latin typeface="Calibri" pitchFamily="34" charset="0"/>
                <a:ea typeface="Calibri" pitchFamily="34" charset="-122"/>
                <a:cs typeface="Calibri" pitchFamily="34" charset="-120"/>
              </a:rPr>
              <a:t>get(0) yerine niyeti açıkça ifade eder. Boş listede get(0) IndexOutOfBoundsException fırlatırken, getFirst() anlamlı bir NoSuchElementException fırlatır.</a:t>
            </a:r>
            <a:endParaRPr lang="en-US" sz="1100" dirty="0"/>
          </a:p>
        </p:txBody>
      </p:sp>
      <p:sp>
        <p:nvSpPr>
          <p:cNvPr id="11" name="Shape 9"/>
          <p:cNvSpPr/>
          <p:nvPr/>
        </p:nvSpPr>
        <p:spPr>
          <a:xfrm>
            <a:off x="4343400" y="1691640"/>
            <a:ext cx="3520440" cy="3566160"/>
          </a:xfrm>
          <a:prstGeom prst="roundRect">
            <a:avLst>
              <a:gd name="adj" fmla="val 2338"/>
            </a:avLst>
          </a:prstGeom>
          <a:solidFill>
            <a:srgbClr val="FFFFFF"/>
          </a:solidFill>
          <a:ln w="12700">
            <a:solidFill>
              <a:srgbClr val="E1E7F3"/>
            </a:solidFill>
            <a:prstDash val="solid"/>
          </a:ln>
          <a:effectLst>
            <a:outerShdw sx="100000" sy="100000" kx="0" ky="0" algn="bl" rotWithShape="0" blurRad="101600" dist="38100" dir="5400000">
              <a:srgbClr val="1E2761">
                <a:alpha val="10000"/>
              </a:srgbClr>
            </a:outerShdw>
          </a:effectLst>
        </p:spPr>
      </p:sp>
      <p:sp>
        <p:nvSpPr>
          <p:cNvPr id="12" name="Text 10"/>
          <p:cNvSpPr/>
          <p:nvPr/>
        </p:nvSpPr>
        <p:spPr>
          <a:xfrm>
            <a:off x="4617720" y="1947672"/>
            <a:ext cx="2971800" cy="36576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HexFormat</a:t>
            </a:r>
            <a:endParaRPr lang="en-US" sz="1550" dirty="0"/>
          </a:p>
        </p:txBody>
      </p:sp>
      <p:sp>
        <p:nvSpPr>
          <p:cNvPr id="13" name="Shape 11"/>
          <p:cNvSpPr/>
          <p:nvPr/>
        </p:nvSpPr>
        <p:spPr>
          <a:xfrm>
            <a:off x="4617720" y="2350008"/>
            <a:ext cx="2286000" cy="292608"/>
          </a:xfrm>
          <a:prstGeom prst="roundRect">
            <a:avLst>
              <a:gd name="adj" fmla="val 50000"/>
            </a:avLst>
          </a:prstGeom>
          <a:solidFill>
            <a:srgbClr val="EAF7F2"/>
          </a:solidFill>
          <a:ln/>
        </p:spPr>
      </p:sp>
      <p:sp>
        <p:nvSpPr>
          <p:cNvPr id="14" name="Text 12"/>
          <p:cNvSpPr/>
          <p:nvPr/>
        </p:nvSpPr>
        <p:spPr>
          <a:xfrm>
            <a:off x="4617720" y="2350008"/>
            <a:ext cx="2286000" cy="292608"/>
          </a:xfrm>
          <a:prstGeom prst="rect">
            <a:avLst/>
          </a:prstGeom>
          <a:noFill/>
          <a:ln/>
        </p:spPr>
        <p:txBody>
          <a:bodyPr wrap="square" lIns="0" tIns="0" rIns="0" bIns="0" rtlCol="0" anchor="ctr"/>
          <a:lstStyle/>
          <a:p>
            <a:pPr algn="ctr" indent="0" marL="0">
              <a:buNone/>
            </a:pPr>
            <a:r>
              <a:rPr lang="en-US" sz="950" b="1" dirty="0">
                <a:solidFill>
                  <a:srgbClr val="028090"/>
                </a:solidFill>
                <a:latin typeface="Calibri" pitchFamily="34" charset="0"/>
                <a:ea typeface="Calibri" pitchFamily="34" charset="-122"/>
                <a:cs typeface="Calibri" pitchFamily="34" charset="-120"/>
              </a:rPr>
              <a:t>java.util · JDK 17</a:t>
            </a:r>
            <a:endParaRPr lang="en-US" sz="950" dirty="0"/>
          </a:p>
        </p:txBody>
      </p:sp>
      <p:sp>
        <p:nvSpPr>
          <p:cNvPr id="15" name="Shape 13"/>
          <p:cNvSpPr/>
          <p:nvPr/>
        </p:nvSpPr>
        <p:spPr>
          <a:xfrm>
            <a:off x="4617720" y="2788920"/>
            <a:ext cx="2971800" cy="502920"/>
          </a:xfrm>
          <a:prstGeom prst="roundRect">
            <a:avLst>
              <a:gd name="adj" fmla="val 14545"/>
            </a:avLst>
          </a:prstGeom>
          <a:solidFill>
            <a:srgbClr val="141A46"/>
          </a:solidFill>
          <a:ln/>
        </p:spPr>
      </p:sp>
      <p:sp>
        <p:nvSpPr>
          <p:cNvPr id="16" name="Text 14"/>
          <p:cNvSpPr/>
          <p:nvPr/>
        </p:nvSpPr>
        <p:spPr>
          <a:xfrm>
            <a:off x="4818888" y="2935224"/>
            <a:ext cx="2569464" cy="210312"/>
          </a:xfrm>
          <a:prstGeom prst="rect">
            <a:avLst/>
          </a:prstGeom>
          <a:noFill/>
          <a:ln/>
        </p:spPr>
        <p:txBody>
          <a:bodyPr wrap="square" lIns="0" tIns="0" rIns="0" bIns="0" rtlCol="0" anchor="t"/>
          <a:lstStyle/>
          <a:p>
            <a:pPr algn="l" indent="0" marL="0">
              <a:lnSpc>
                <a:spcPct val="118000"/>
              </a:lnSpc>
              <a:buNone/>
            </a:pPr>
            <a:r>
              <a:rPr lang="en-US" sz="1050" dirty="0">
                <a:solidFill>
                  <a:srgbClr val="D7F7EC"/>
                </a:solidFill>
                <a:latin typeface="Courier New" pitchFamily="34" charset="0"/>
                <a:ea typeface="Courier New" pitchFamily="34" charset="-122"/>
                <a:cs typeface="Courier New" pitchFamily="34" charset="-120"/>
              </a:rPr>
              <a:t>HexFormat.of().formatHex(...)</a:t>
            </a:r>
            <a:endParaRPr lang="en-US" sz="1050" dirty="0"/>
          </a:p>
        </p:txBody>
      </p:sp>
      <p:sp>
        <p:nvSpPr>
          <p:cNvPr id="17" name="Text 15"/>
          <p:cNvSpPr/>
          <p:nvPr/>
        </p:nvSpPr>
        <p:spPr>
          <a:xfrm>
            <a:off x="4617720" y="3474720"/>
            <a:ext cx="2971800" cy="1645920"/>
          </a:xfrm>
          <a:prstGeom prst="rect">
            <a:avLst/>
          </a:prstGeom>
          <a:noFill/>
          <a:ln/>
        </p:spPr>
        <p:txBody>
          <a:bodyPr wrap="square" lIns="0" tIns="0" rIns="0" bIns="0" rtlCol="0" anchor="ctr"/>
          <a:lstStyle/>
          <a:p>
            <a:pPr indent="0" marL="0">
              <a:lnSpc>
                <a:spcPct val="122000"/>
              </a:lnSpc>
              <a:buNone/>
            </a:pPr>
            <a:r>
              <a:rPr lang="en-US" sz="1100" dirty="0">
                <a:solidFill>
                  <a:srgbClr val="1B2440"/>
                </a:solidFill>
                <a:latin typeface="Calibri" pitchFamily="34" charset="0"/>
                <a:ea typeface="Calibri" pitchFamily="34" charset="-122"/>
                <a:cs typeface="Calibri" pitchFamily="34" charset="-120"/>
              </a:rPr>
              <a:t>Yeni bir Java 25 özelliği değil ama alışkanlıktan hâlâ atlanan bir kolaylık. LocalAttachmentStore.sha256'da — Commons Codec bağımlılığı gerekmiyor.</a:t>
            </a:r>
            <a:endParaRPr lang="en-US" sz="1100" dirty="0"/>
          </a:p>
        </p:txBody>
      </p:sp>
      <p:sp>
        <p:nvSpPr>
          <p:cNvPr id="18" name="Shape 16"/>
          <p:cNvSpPr/>
          <p:nvPr/>
        </p:nvSpPr>
        <p:spPr>
          <a:xfrm>
            <a:off x="8138160" y="1691640"/>
            <a:ext cx="3520440" cy="3566160"/>
          </a:xfrm>
          <a:prstGeom prst="roundRect">
            <a:avLst>
              <a:gd name="adj" fmla="val 2338"/>
            </a:avLst>
          </a:prstGeom>
          <a:solidFill>
            <a:srgbClr val="FFFFFF"/>
          </a:solidFill>
          <a:ln w="12700">
            <a:solidFill>
              <a:srgbClr val="E1E7F3"/>
            </a:solidFill>
            <a:prstDash val="solid"/>
          </a:ln>
          <a:effectLst>
            <a:outerShdw sx="100000" sy="100000" kx="0" ky="0" algn="bl" rotWithShape="0" blurRad="101600" dist="38100" dir="5400000">
              <a:srgbClr val="1E2761">
                <a:alpha val="10000"/>
              </a:srgbClr>
            </a:outerShdw>
          </a:effectLst>
        </p:spPr>
      </p:sp>
      <p:sp>
        <p:nvSpPr>
          <p:cNvPr id="19" name="Text 17"/>
          <p:cNvSpPr/>
          <p:nvPr/>
        </p:nvSpPr>
        <p:spPr>
          <a:xfrm>
            <a:off x="8412480" y="1947672"/>
            <a:ext cx="2971800" cy="36576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Text Block'lar</a:t>
            </a:r>
            <a:endParaRPr lang="en-US" sz="1550" dirty="0"/>
          </a:p>
        </p:txBody>
      </p:sp>
      <p:sp>
        <p:nvSpPr>
          <p:cNvPr id="20" name="Shape 18"/>
          <p:cNvSpPr/>
          <p:nvPr/>
        </p:nvSpPr>
        <p:spPr>
          <a:xfrm>
            <a:off x="8412480" y="2350008"/>
            <a:ext cx="2286000" cy="292608"/>
          </a:xfrm>
          <a:prstGeom prst="roundRect">
            <a:avLst>
              <a:gd name="adj" fmla="val 50000"/>
            </a:avLst>
          </a:prstGeom>
          <a:solidFill>
            <a:srgbClr val="EAF7F2"/>
          </a:solidFill>
          <a:ln/>
        </p:spPr>
      </p:sp>
      <p:sp>
        <p:nvSpPr>
          <p:cNvPr id="21" name="Text 19"/>
          <p:cNvSpPr/>
          <p:nvPr/>
        </p:nvSpPr>
        <p:spPr>
          <a:xfrm>
            <a:off x="8412480" y="2350008"/>
            <a:ext cx="2286000" cy="292608"/>
          </a:xfrm>
          <a:prstGeom prst="rect">
            <a:avLst/>
          </a:prstGeom>
          <a:noFill/>
          <a:ln/>
        </p:spPr>
        <p:txBody>
          <a:bodyPr wrap="square" lIns="0" tIns="0" rIns="0" bIns="0" rtlCol="0" anchor="ctr"/>
          <a:lstStyle/>
          <a:p>
            <a:pPr algn="ctr" indent="0" marL="0">
              <a:buNone/>
            </a:pPr>
            <a:r>
              <a:rPr lang="en-US" sz="950" b="1" dirty="0">
                <a:solidFill>
                  <a:srgbClr val="028090"/>
                </a:solidFill>
                <a:latin typeface="Calibri" pitchFamily="34" charset="0"/>
                <a:ea typeface="Calibri" pitchFamily="34" charset="-122"/>
                <a:cs typeface="Calibri" pitchFamily="34" charset="-120"/>
              </a:rPr>
              <a:t>JEP 378 · JDK 15</a:t>
            </a:r>
            <a:endParaRPr lang="en-US" sz="950" dirty="0"/>
          </a:p>
        </p:txBody>
      </p:sp>
      <p:sp>
        <p:nvSpPr>
          <p:cNvPr id="22" name="Shape 20"/>
          <p:cNvSpPr/>
          <p:nvPr/>
        </p:nvSpPr>
        <p:spPr>
          <a:xfrm>
            <a:off x="8412480" y="2788920"/>
            <a:ext cx="2971800" cy="502920"/>
          </a:xfrm>
          <a:prstGeom prst="roundRect">
            <a:avLst>
              <a:gd name="adj" fmla="val 14545"/>
            </a:avLst>
          </a:prstGeom>
          <a:solidFill>
            <a:srgbClr val="141A46"/>
          </a:solidFill>
          <a:ln/>
        </p:spPr>
      </p:sp>
      <p:sp>
        <p:nvSpPr>
          <p:cNvPr id="23" name="Text 21"/>
          <p:cNvSpPr/>
          <p:nvPr/>
        </p:nvSpPr>
        <p:spPr>
          <a:xfrm>
            <a:off x="8613648" y="2935224"/>
            <a:ext cx="2569464" cy="210312"/>
          </a:xfrm>
          <a:prstGeom prst="rect">
            <a:avLst/>
          </a:prstGeom>
          <a:noFill/>
          <a:ln/>
        </p:spPr>
        <p:txBody>
          <a:bodyPr wrap="square" lIns="0" tIns="0" rIns="0" bIns="0" rtlCol="0" anchor="t"/>
          <a:lstStyle/>
          <a:p>
            <a:pPr algn="l" indent="0" marL="0">
              <a:lnSpc>
                <a:spcPct val="118000"/>
              </a:lnSpc>
              <a:buNone/>
            </a:pPr>
            <a:r>
              <a:rPr lang="en-US" sz="1050" dirty="0">
                <a:solidFill>
                  <a:srgbClr val="D7F7EC"/>
                </a:solidFill>
                <a:latin typeface="Courier New" pitchFamily="34" charset="0"/>
                <a:ea typeface="Courier New" pitchFamily="34" charset="-122"/>
                <a:cs typeface="Courier New" pitchFamily="34" charset="-120"/>
              </a:rPr>
              <a:t>"""\n&lt;html&gt;...\n"""</a:t>
            </a:r>
            <a:endParaRPr lang="en-US" sz="1050" dirty="0"/>
          </a:p>
        </p:txBody>
      </p:sp>
      <p:sp>
        <p:nvSpPr>
          <p:cNvPr id="24" name="Text 22"/>
          <p:cNvSpPr/>
          <p:nvPr/>
        </p:nvSpPr>
        <p:spPr>
          <a:xfrm>
            <a:off x="8412480" y="3474720"/>
            <a:ext cx="2971800" cy="1645920"/>
          </a:xfrm>
          <a:prstGeom prst="rect">
            <a:avLst/>
          </a:prstGeom>
          <a:noFill/>
          <a:ln/>
        </p:spPr>
        <p:txBody>
          <a:bodyPr wrap="square" lIns="0" tIns="0" rIns="0" bIns="0" rtlCol="0" anchor="ctr"/>
          <a:lstStyle/>
          <a:p>
            <a:pPr indent="0" marL="0">
              <a:lnSpc>
                <a:spcPct val="122000"/>
              </a:lnSpc>
              <a:buNone/>
            </a:pPr>
            <a:r>
              <a:rPr lang="en-US" sz="1100" dirty="0">
                <a:solidFill>
                  <a:srgbClr val="1B2440"/>
                </a:solidFill>
                <a:latin typeface="Calibri" pitchFamily="34" charset="0"/>
                <a:ea typeface="Calibri" pitchFamily="34" charset="-122"/>
                <a:cs typeface="Calibri" pitchFamily="34" charset="-120"/>
              </a:rPr>
              <a:t>Hata mail şablonu artık koda gömülü. Legacy'de diske yazıp geri okuma 'çözümü' vardı — text block olmadığı için.</a:t>
            </a:r>
            <a:endParaRPr lang="en-US" sz="1100" dirty="0"/>
          </a:p>
        </p:txBody>
      </p:sp>
      <p:sp>
        <p:nvSpPr>
          <p:cNvPr id="25" name="Text 23"/>
          <p:cNvSpPr/>
          <p:nvPr/>
        </p:nvSpPr>
        <p:spPr>
          <a:xfrm>
            <a:off x="548640" y="5394960"/>
            <a:ext cx="11064240" cy="731520"/>
          </a:xfrm>
          <a:prstGeom prst="rect">
            <a:avLst/>
          </a:prstGeom>
          <a:noFill/>
          <a:ln/>
        </p:spPr>
        <p:txBody>
          <a:bodyPr wrap="square" lIns="0" tIns="0" rIns="0" bIns="0" rtlCol="0" anchor="ctr"/>
          <a:lstStyle/>
          <a:p>
            <a:pPr indent="0" marL="0">
              <a:lnSpc>
                <a:spcPct val="120000"/>
              </a:lnSpc>
              <a:buNone/>
            </a:pPr>
            <a:r>
              <a:rPr lang="en-US" sz="1180" i="1" dirty="0">
                <a:solidFill>
                  <a:srgbClr val="5B6B8C"/>
                </a:solidFill>
                <a:latin typeface="Calibri" pitchFamily="34" charset="0"/>
                <a:ea typeface="Calibri" pitchFamily="34" charset="-122"/>
                <a:cs typeface="Calibri" pitchFamily="34" charset="-120"/>
              </a:rPr>
              <a:t>Not: Bu üçü Java 25'e özel değil — bazıları çok daha eski sürümlerden geliyor ama Java 17/21'den 25'e tek seferde atlarken hepsi birlikte devreye giriyor. LTS atlamanın kazancı sadece 'en yeni' değil, arada kalan tüm iyileştirmeleri toplu almak.</a:t>
            </a:r>
            <a:endParaRPr lang="en-US" sz="1180" dirty="0"/>
          </a:p>
        </p:txBody>
      </p:sp>
      <p:sp>
        <p:nvSpPr>
          <p:cNvPr id="26" name="Text 2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27" name="Text 25"/>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SPRING BOOT 4 · DAYANIKLILIK</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Retry artık çekirdekte, ekstra bağımlılık yok</a:t>
            </a:r>
            <a:endParaRPr lang="en-US" sz="2800" dirty="0"/>
          </a:p>
        </p:txBody>
      </p:sp>
      <p:sp>
        <p:nvSpPr>
          <p:cNvPr id="4" name="Text 2"/>
          <p:cNvSpPr/>
          <p:nvPr/>
        </p:nvSpPr>
        <p:spPr>
          <a:xfrm>
            <a:off x="548640" y="1536192"/>
            <a:ext cx="5394960" cy="320040"/>
          </a:xfrm>
          <a:prstGeom prst="rect">
            <a:avLst/>
          </a:prstGeom>
          <a:noFill/>
          <a:ln/>
        </p:spPr>
        <p:txBody>
          <a:bodyPr wrap="square" lIns="0" tIns="0" rIns="0" bIns="0" rtlCol="0" anchor="ctr"/>
          <a:lstStyle/>
          <a:p>
            <a:pPr indent="0" marL="0">
              <a:buNone/>
            </a:pPr>
            <a:r>
              <a:rPr lang="en-US" sz="1400" b="1" dirty="0">
                <a:solidFill>
                  <a:srgbClr val="B85042"/>
                </a:solidFill>
                <a:latin typeface="Cambria" pitchFamily="34" charset="0"/>
                <a:ea typeface="Cambria" pitchFamily="34" charset="-122"/>
                <a:cs typeface="Cambria" pitchFamily="34" charset="-120"/>
              </a:rPr>
              <a:t>Boot 3 — ayrı bağımlılık gerekir</a:t>
            </a:r>
            <a:endParaRPr lang="en-US" sz="1400" dirty="0"/>
          </a:p>
        </p:txBody>
      </p:sp>
      <p:sp>
        <p:nvSpPr>
          <p:cNvPr id="5" name="Shape 3"/>
          <p:cNvSpPr/>
          <p:nvPr/>
        </p:nvSpPr>
        <p:spPr>
          <a:xfrm>
            <a:off x="548640" y="1883664"/>
            <a:ext cx="5394960" cy="1554480"/>
          </a:xfrm>
          <a:prstGeom prst="roundRect">
            <a:avLst>
              <a:gd name="adj" fmla="val 4706"/>
            </a:avLst>
          </a:prstGeom>
          <a:solidFill>
            <a:srgbClr val="3A2E2E"/>
          </a:solidFill>
          <a:ln/>
        </p:spPr>
      </p:sp>
      <p:sp>
        <p:nvSpPr>
          <p:cNvPr id="6" name="Text 4"/>
          <p:cNvSpPr/>
          <p:nvPr/>
        </p:nvSpPr>
        <p:spPr>
          <a:xfrm>
            <a:off x="749808" y="2029968"/>
            <a:ext cx="4992624" cy="1261872"/>
          </a:xfrm>
          <a:prstGeom prst="rect">
            <a:avLst/>
          </a:prstGeom>
          <a:noFill/>
          <a:ln/>
        </p:spPr>
        <p:txBody>
          <a:bodyPr wrap="square" lIns="0" tIns="0" rIns="0" bIns="0" rtlCol="0" anchor="t"/>
          <a:lstStyle/>
          <a:p>
            <a:pPr algn="l" indent="0" marL="0">
              <a:lnSpc>
                <a:spcPct val="118000"/>
              </a:lnSpc>
              <a:buNone/>
            </a:pPr>
            <a:r>
              <a:rPr lang="en-US" sz="1200" dirty="0">
                <a:solidFill>
                  <a:srgbClr val="D7F7EC"/>
                </a:solidFill>
                <a:latin typeface="Courier New" pitchFamily="34" charset="0"/>
                <a:ea typeface="Courier New" pitchFamily="34" charset="-122"/>
                <a:cs typeface="Courier New" pitchFamily="34" charset="-120"/>
              </a:rPr>
              <a:t>// pom.xml: spring-retry eklenir</a:t>
            </a:r>
            <a:endParaRPr lang="en-US" sz="1200" dirty="0"/>
          </a:p>
          <a:p>
            <a:pPr algn="l" indent="0" marL="0">
              <a:lnSpc>
                <a:spcPct val="118000"/>
              </a:lnSpc>
              <a:buNone/>
            </a:pPr>
            <a:r>
              <a:rPr lang="en-US" sz="1200" dirty="0">
                <a:solidFill>
                  <a:srgbClr val="D7F7EC"/>
                </a:solidFill>
                <a:latin typeface="Courier New" pitchFamily="34" charset="0"/>
                <a:ea typeface="Courier New" pitchFamily="34" charset="-122"/>
                <a:cs typeface="Courier New" pitchFamily="34" charset="-120"/>
              </a:rPr>
              <a:t>// + versiyon uyumu takip edilir</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D7F7EC"/>
                </a:solidFill>
                <a:latin typeface="Courier New" pitchFamily="34" charset="0"/>
                <a:ea typeface="Courier New" pitchFamily="34" charset="-122"/>
                <a:cs typeface="Courier New" pitchFamily="34" charset="-120"/>
              </a:rPr>
              <a:t>@EnableRetry</a:t>
            </a:r>
            <a:endParaRPr lang="en-US" sz="1200" dirty="0"/>
          </a:p>
          <a:p>
            <a:pPr algn="l" indent="0" marL="0">
              <a:lnSpc>
                <a:spcPct val="118000"/>
              </a:lnSpc>
              <a:buNone/>
            </a:pPr>
            <a:r>
              <a:rPr lang="en-US" sz="1200" dirty="0">
                <a:solidFill>
                  <a:srgbClr val="D7F7EC"/>
                </a:solidFill>
                <a:latin typeface="Courier New" pitchFamily="34" charset="0"/>
                <a:ea typeface="Courier New" pitchFamily="34" charset="-122"/>
                <a:cs typeface="Courier New" pitchFamily="34" charset="-120"/>
              </a:rPr>
              <a:t>@Retryable(maxAttempts = 3)</a:t>
            </a:r>
            <a:endParaRPr lang="en-US" sz="1200" dirty="0"/>
          </a:p>
          <a:p>
            <a:pPr algn="l" indent="0" marL="0">
              <a:lnSpc>
                <a:spcPct val="118000"/>
              </a:lnSpc>
              <a:buNone/>
            </a:pPr>
            <a:r>
              <a:rPr lang="en-US" sz="1200" dirty="0">
                <a:solidFill>
                  <a:srgbClr val="D7F7EC"/>
                </a:solidFill>
                <a:latin typeface="Courier New" pitchFamily="34" charset="0"/>
                <a:ea typeface="Courier New" pitchFamily="34" charset="-122"/>
                <a:cs typeface="Courier New" pitchFamily="34" charset="-120"/>
              </a:rPr>
              <a:t>public String upload(...) { ... }</a:t>
            </a:r>
            <a:endParaRPr lang="en-US" sz="1200" dirty="0"/>
          </a:p>
        </p:txBody>
      </p:sp>
      <p:sp>
        <p:nvSpPr>
          <p:cNvPr id="7" name="Text 5"/>
          <p:cNvSpPr/>
          <p:nvPr/>
        </p:nvSpPr>
        <p:spPr>
          <a:xfrm>
            <a:off x="6263640" y="1536192"/>
            <a:ext cx="5394960" cy="320040"/>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Boot 4 / Spring Framework 7 — çekirdekte</a:t>
            </a:r>
            <a:endParaRPr lang="en-US" sz="1400" dirty="0"/>
          </a:p>
        </p:txBody>
      </p:sp>
      <p:sp>
        <p:nvSpPr>
          <p:cNvPr id="8" name="Shape 6"/>
          <p:cNvSpPr/>
          <p:nvPr/>
        </p:nvSpPr>
        <p:spPr>
          <a:xfrm>
            <a:off x="6263640" y="1883664"/>
            <a:ext cx="5394960" cy="1554480"/>
          </a:xfrm>
          <a:prstGeom prst="roundRect">
            <a:avLst>
              <a:gd name="adj" fmla="val 4706"/>
            </a:avLst>
          </a:prstGeom>
          <a:solidFill>
            <a:srgbClr val="141A46"/>
          </a:solidFill>
          <a:ln/>
        </p:spPr>
      </p:sp>
      <p:sp>
        <p:nvSpPr>
          <p:cNvPr id="9" name="Text 7"/>
          <p:cNvSpPr/>
          <p:nvPr/>
        </p:nvSpPr>
        <p:spPr>
          <a:xfrm>
            <a:off x="6464808" y="2029968"/>
            <a:ext cx="4992624" cy="1261872"/>
          </a:xfrm>
          <a:prstGeom prst="rect">
            <a:avLst/>
          </a:prstGeom>
          <a:noFill/>
          <a:ln/>
        </p:spPr>
        <p:txBody>
          <a:bodyPr wrap="square" lIns="0" tIns="0" rIns="0" bIns="0" rtlCol="0" anchor="t"/>
          <a:lstStyle/>
          <a:p>
            <a:pPr algn="l" indent="0" marL="0">
              <a:lnSpc>
                <a:spcPct val="118000"/>
              </a:lnSpc>
              <a:buNone/>
            </a:pPr>
            <a:r>
              <a:rPr lang="en-US" sz="1200" dirty="0">
                <a:solidFill>
                  <a:srgbClr val="D7F7EC"/>
                </a:solidFill>
                <a:latin typeface="Courier New" pitchFamily="34" charset="0"/>
                <a:ea typeface="Courier New" pitchFamily="34" charset="-122"/>
                <a:cs typeface="Courier New" pitchFamily="34" charset="-120"/>
              </a:rPr>
              <a:t>@EnableResilientMethods // uygulama sinifinda</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D7F7EC"/>
                </a:solidFill>
                <a:latin typeface="Courier New" pitchFamily="34" charset="0"/>
                <a:ea typeface="Courier New" pitchFamily="34" charset="-122"/>
                <a:cs typeface="Courier New" pitchFamily="34" charset="-120"/>
              </a:rPr>
              <a:t>@Retryable(maxRetries = 3, delay = 3000,</a:t>
            </a:r>
            <a:endParaRPr lang="en-US" sz="1200" dirty="0"/>
          </a:p>
          <a:p>
            <a:pPr algn="l" indent="0" marL="0">
              <a:lnSpc>
                <a:spcPct val="118000"/>
              </a:lnSpc>
              <a:buNone/>
            </a:pPr>
            <a:r>
              <a:rPr lang="en-US" sz="1200" dirty="0">
                <a:solidFill>
                  <a:srgbClr val="D7F7EC"/>
                </a:solidFill>
                <a:latin typeface="Courier New" pitchFamily="34" charset="0"/>
                <a:ea typeface="Courier New" pitchFamily="34" charset="-122"/>
                <a:cs typeface="Courier New" pitchFamily="34" charset="-120"/>
              </a:rPr>
              <a:t>           multiplier = 2.0,</a:t>
            </a:r>
            <a:endParaRPr lang="en-US" sz="1200" dirty="0"/>
          </a:p>
          <a:p>
            <a:pPr algn="l" indent="0" marL="0">
              <a:lnSpc>
                <a:spcPct val="118000"/>
              </a:lnSpc>
              <a:buNone/>
            </a:pPr>
            <a:r>
              <a:rPr lang="en-US" sz="1200" dirty="0">
                <a:solidFill>
                  <a:srgbClr val="D7F7EC"/>
                </a:solidFill>
                <a:latin typeface="Courier New" pitchFamily="34" charset="0"/>
                <a:ea typeface="Courier New" pitchFamily="34" charset="-122"/>
                <a:cs typeface="Courier New" pitchFamily="34" charset="-120"/>
              </a:rPr>
              <a:t>           includes = IntegrationException.class)</a:t>
            </a:r>
            <a:endParaRPr lang="en-US" sz="1200" dirty="0"/>
          </a:p>
          <a:p>
            <a:pPr algn="l" indent="0" marL="0">
              <a:lnSpc>
                <a:spcPct val="118000"/>
              </a:lnSpc>
              <a:buNone/>
            </a:pPr>
            <a:r>
              <a:rPr lang="en-US" sz="1200" dirty="0">
                <a:solidFill>
                  <a:srgbClr val="D7F7EC"/>
                </a:solidFill>
                <a:latin typeface="Courier New" pitchFamily="34" charset="0"/>
                <a:ea typeface="Courier New" pitchFamily="34" charset="-122"/>
                <a:cs typeface="Courier New" pitchFamily="34" charset="-120"/>
              </a:rPr>
              <a:t>public String upload(Path f, String remote) { ... }</a:t>
            </a:r>
            <a:endParaRPr lang="en-US" sz="1200" dirty="0"/>
          </a:p>
        </p:txBody>
      </p:sp>
      <p:sp>
        <p:nvSpPr>
          <p:cNvPr id="10" name="Text 8"/>
          <p:cNvSpPr/>
          <p:nvPr/>
        </p:nvSpPr>
        <p:spPr>
          <a:xfrm>
            <a:off x="548640" y="3429000"/>
            <a:ext cx="11064240" cy="777240"/>
          </a:xfrm>
          <a:prstGeom prst="rect">
            <a:avLst/>
          </a:prstGeom>
          <a:noFill/>
          <a:ln/>
        </p:spPr>
        <p:txBody>
          <a:bodyPr wrap="square" lIns="0" tIns="0" rIns="0" bIns="0" rtlCol="0" anchor="ctr"/>
          <a:lstStyle/>
          <a:p>
            <a:pPr indent="0" marL="0">
              <a:lnSpc>
                <a:spcPct val="122000"/>
              </a:lnSpc>
              <a:buNone/>
            </a:pPr>
            <a:r>
              <a:rPr lang="en-US" sz="1250" dirty="0">
                <a:solidFill>
                  <a:srgbClr val="1B2440"/>
                </a:solidFill>
                <a:latin typeface="Calibri" pitchFamily="34" charset="0"/>
                <a:ea typeface="Calibri" pitchFamily="34" charset="-122"/>
                <a:cs typeface="Calibri" pitchFamily="34" charset="-120"/>
              </a:rPr>
              <a:t>IMAP ve SFTP entegrasyonları doğası gereği güvenilmez. Legacy kodda hiç retry yoktu — bir saniyelik ağ kesintisi, o mailin o gün hiç işlenmemesi demekti. Şimdi üstel geri çekilmeli 3 deneme, sıfır ek bağımlılıkla ve dört satır anotasyonla sağlanıyor.</a:t>
            </a:r>
            <a:endParaRPr lang="en-US" sz="1250" dirty="0"/>
          </a:p>
        </p:txBody>
      </p:sp>
      <p:sp>
        <p:nvSpPr>
          <p:cNvPr id="11" name="Shape 9"/>
          <p:cNvSpPr/>
          <p:nvPr/>
        </p:nvSpPr>
        <p:spPr>
          <a:xfrm>
            <a:off x="548640" y="4343400"/>
            <a:ext cx="11064240" cy="1143000"/>
          </a:xfrm>
          <a:prstGeom prst="roundRect">
            <a:avLst>
              <a:gd name="adj" fmla="val 6400"/>
            </a:avLst>
          </a:prstGeom>
          <a:solidFill>
            <a:srgbClr val="FBEFEA"/>
          </a:solidFill>
          <a:ln w="12700">
            <a:solidFill>
              <a:srgbClr val="B85042"/>
            </a:solidFill>
            <a:prstDash val="solid"/>
          </a:ln>
        </p:spPr>
      </p:sp>
      <p:sp>
        <p:nvSpPr>
          <p:cNvPr id="12" name="Shape 10"/>
          <p:cNvSpPr/>
          <p:nvPr/>
        </p:nvSpPr>
        <p:spPr>
          <a:xfrm>
            <a:off x="978408" y="4658868"/>
            <a:ext cx="512064" cy="512064"/>
          </a:xfrm>
          <a:prstGeom prst="ellipse">
            <a:avLst/>
          </a:prstGeom>
          <a:solidFill>
            <a:srgbClr val="B85042"/>
          </a:solidFill>
          <a:ln/>
        </p:spPr>
      </p:sp>
      <p:sp>
        <p:nvSpPr>
          <p:cNvPr id="13" name="Text 11"/>
          <p:cNvSpPr/>
          <p:nvPr/>
        </p:nvSpPr>
        <p:spPr>
          <a:xfrm>
            <a:off x="978408" y="465886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737360" y="4453128"/>
            <a:ext cx="9601200" cy="923544"/>
          </a:xfrm>
          <a:prstGeom prst="rect">
            <a:avLst/>
          </a:prstGeom>
          <a:noFill/>
          <a:ln/>
        </p:spPr>
        <p:txBody>
          <a:bodyPr wrap="square" lIns="0" tIns="0" rIns="0" bIns="0" rtlCol="0" anchor="t"/>
          <a:lstStyle/>
          <a:p>
            <a:pPr indent="0" marL="0">
              <a:lnSpc>
                <a:spcPct val="118000"/>
              </a:lnSpc>
              <a:buNone/>
            </a:pPr>
            <a:r>
              <a:rPr lang="en-US" sz="1160" b="1" dirty="0">
                <a:solidFill>
                  <a:srgbClr val="B85042"/>
                </a:solidFill>
                <a:latin typeface="Calibri" pitchFamily="34" charset="0"/>
                <a:ea typeface="Calibri" pitchFamily="34" charset="-122"/>
                <a:cs typeface="Calibri" pitchFamily="34" charset="-120"/>
              </a:rPr>
              <a:t>Dikkat — sessiz anlam değişikliği: </a:t>
            </a:r>
            <a:pPr indent="0" marL="0">
              <a:lnSpc>
                <a:spcPct val="118000"/>
              </a:lnSpc>
              <a:buNone/>
            </a:pPr>
            <a:r>
              <a:rPr lang="en-US" sz="1160" dirty="0">
                <a:solidFill>
                  <a:srgbClr val="1B2440"/>
                </a:solidFill>
                <a:latin typeface="Calibri" pitchFamily="34" charset="0"/>
                <a:ea typeface="Calibri" pitchFamily="34" charset="-122"/>
                <a:cs typeface="Calibri" pitchFamily="34" charset="-120"/>
              </a:rPr>
              <a:t>parametre adı maxRetries, eski spring-retry'daki maxAttempts değil. maxAttempts=3 "toplam 3 deneme" demekti; maxRetries=3 "ilk denemeden sonra 3 tekrar", yani toplam 4 çağrı. Boot 3'ten geçişte bu ayrım gözden kaçarsa deneme sayısı beklenenden fazla olur.</a:t>
            </a:r>
            <a:endParaRPr lang="en-US" sz="1160" dirty="0"/>
          </a:p>
        </p:txBody>
      </p:sp>
      <p:sp>
        <p:nvSpPr>
          <p:cNvPr id="15" name="Text 13"/>
          <p:cNvSpPr/>
          <p:nvPr/>
        </p:nvSpPr>
        <p:spPr>
          <a:xfrm>
            <a:off x="548640" y="5596128"/>
            <a:ext cx="11064240" cy="502920"/>
          </a:xfrm>
          <a:prstGeom prst="rect">
            <a:avLst/>
          </a:prstGeom>
          <a:noFill/>
          <a:ln/>
        </p:spPr>
        <p:txBody>
          <a:bodyPr wrap="square" lIns="0" tIns="0" rIns="0" bIns="0" rtlCol="0" anchor="ctr"/>
          <a:lstStyle/>
          <a:p>
            <a:pPr indent="0" marL="0">
              <a:lnSpc>
                <a:spcPct val="115000"/>
              </a:lnSpc>
              <a:buNone/>
            </a:pPr>
            <a:r>
              <a:rPr lang="en-US" sz="1080" i="1" dirty="0">
                <a:solidFill>
                  <a:srgbClr val="5B6B8C"/>
                </a:solidFill>
                <a:latin typeface="Calibri" pitchFamily="34" charset="0"/>
                <a:ea typeface="Calibri" pitchFamily="34" charset="-122"/>
                <a:cs typeface="Calibri" pitchFamily="34" charset="-120"/>
              </a:rPr>
              <a:t>Not: Bu bir circuit breaker değil, sadece retry. resilience4j bilerek eklenmedi (MVP kapsamı) — SFTP/IMAP sürekli kesikse retry de işe yaramaz; bu durumda circuit breaker gelecek adım olabilir.</a:t>
            </a:r>
            <a:endParaRPr lang="en-US" sz="1080" dirty="0"/>
          </a:p>
        </p:txBody>
      </p:sp>
      <p:sp>
        <p:nvSpPr>
          <p:cNvPr id="16" name="Text 1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17" name="Text 15"/>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SPRING BOOT 4 · BAĞIMLILIK HIJYENI</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Modüler Starter'lar — dar bağımlılık yüzeyi</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64240" cy="3108960"/>
        </p:xfrm>
        <a:graphic>
          <a:graphicData uri="http://schemas.openxmlformats.org/drawingml/2006/table">
            <a:tbl>
              <a:tblPr/>
              <a:tblGrid>
                <a:gridCol w="2880360"/>
                <a:gridCol w="2880360"/>
                <a:gridCol w="530352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Boot 3</a:t>
                      </a:r>
                      <a:endParaRPr lang="en-US" sz="125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Boot 4</a:t>
                      </a:r>
                      <a:endParaRPr lang="en-US" sz="125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dbs-platform'a faydası</a:t>
                      </a:r>
                      <a:endParaRPr lang="en-US" sz="125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solidFill>
                      <a:srgbClr val="1E2761"/>
                    </a:solidFill>
                  </a:tcPr>
                </a:tc>
              </a:tr>
              <a:tr h="658368">
                <a:tc>
                  <a:txBody>
                    <a:bodyPr/>
                    <a:lstStyle/>
                    <a:p>
                      <a:pPr indent="0" marL="0">
                        <a:buNone/>
                      </a:pPr>
                      <a:r>
                        <a:rPr lang="en-US" sz="1100" dirty="0">
                          <a:solidFill>
                            <a:srgbClr val="1B2440"/>
                          </a:solidFill>
                          <a:latin typeface="Courier New" pitchFamily="34" charset="0"/>
                          <a:ea typeface="Courier New" pitchFamily="34" charset="-122"/>
                          <a:cs typeface="Courier New" pitchFamily="34" charset="-120"/>
                        </a:rPr>
                        <a:t>spring-boot-starter-web</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b="1" dirty="0">
                          <a:solidFill>
                            <a:srgbClr val="028090"/>
                          </a:solidFill>
                          <a:latin typeface="Courier New" pitchFamily="34" charset="0"/>
                          <a:ea typeface="Courier New" pitchFamily="34" charset="-122"/>
                          <a:cs typeface="Courier New" pitchFamily="34" charset="-120"/>
                        </a:rPr>
                        <a:t>spring-boot-starter-webmvc</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dirty="0">
                          <a:solidFill>
                            <a:srgbClr val="1B2440"/>
                          </a:solidFill>
                          <a:latin typeface="Calibri" pitchFamily="34" charset="0"/>
                          <a:ea typeface="Calibri" pitchFamily="34" charset="-122"/>
                          <a:cs typeface="Calibri" pitchFamily="34" charset="-120"/>
                        </a:rPr>
                        <a:t>MVC / WebFlux ayrıştı. dbs-common yalnızca ihtiyacı olanı çekiyor; Reactor sınıfları classpath'e girmiyor.</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658368">
                <a:tc>
                  <a:txBody>
                    <a:bodyPr/>
                    <a:lstStyle/>
                    <a:p>
                      <a:pPr indent="0" marL="0">
                        <a:buNone/>
                      </a:pPr>
                      <a:r>
                        <a:rPr lang="en-US" sz="1100" dirty="0">
                          <a:solidFill>
                            <a:srgbClr val="5B6B8C"/>
                          </a:solidFill>
                          <a:latin typeface="Courier New" pitchFamily="34" charset="0"/>
                          <a:ea typeface="Courier New" pitchFamily="34" charset="-122"/>
                          <a:cs typeface="Courier New" pitchFamily="34" charset="-120"/>
                        </a:rPr>
                        <a:t>(web içinde gömülü)</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b="1" dirty="0">
                          <a:solidFill>
                            <a:srgbClr val="028090"/>
                          </a:solidFill>
                          <a:latin typeface="Courier New" pitchFamily="34" charset="0"/>
                          <a:ea typeface="Courier New" pitchFamily="34" charset="-122"/>
                          <a:cs typeface="Courier New" pitchFamily="34" charset="-120"/>
                        </a:rPr>
                        <a:t>spring-boot-starter-jackson</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dirty="0">
                          <a:solidFill>
                            <a:srgbClr val="1B2440"/>
                          </a:solidFill>
                          <a:latin typeface="Calibri" pitchFamily="34" charset="0"/>
                          <a:ea typeface="Calibri" pitchFamily="34" charset="-122"/>
                          <a:cs typeface="Calibri" pitchFamily="34" charset="-120"/>
                        </a:rPr>
                        <a:t>JSON desteği ayrı bağımlılık; ihtiyaç yoksa hiç çekilmiyor.</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658368">
                <a:tc>
                  <a:txBody>
                    <a:bodyPr/>
                    <a:lstStyle/>
                    <a:p>
                      <a:pPr indent="0" marL="0">
                        <a:buNone/>
                      </a:pPr>
                      <a:r>
                        <a:rPr lang="en-US" sz="1100" dirty="0">
                          <a:solidFill>
                            <a:srgbClr val="1B2440"/>
                          </a:solidFill>
                          <a:latin typeface="Courier New" pitchFamily="34" charset="0"/>
                          <a:ea typeface="Courier New" pitchFamily="34" charset="-122"/>
                          <a:cs typeface="Courier New" pitchFamily="34" charset="-120"/>
                        </a:rPr>
                        <a:t>spring-boot-starter-aop</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b="1" dirty="0">
                          <a:solidFill>
                            <a:srgbClr val="028090"/>
                          </a:solidFill>
                          <a:latin typeface="Courier New" pitchFamily="34" charset="0"/>
                          <a:ea typeface="Courier New" pitchFamily="34" charset="-122"/>
                          <a:cs typeface="Courier New" pitchFamily="34" charset="-120"/>
                        </a:rPr>
                        <a:t>spring-boot-starter-aspectj</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dirty="0">
                          <a:solidFill>
                            <a:srgbClr val="1B2440"/>
                          </a:solidFill>
                          <a:latin typeface="Calibri" pitchFamily="34" charset="0"/>
                          <a:ea typeface="Calibri" pitchFamily="34" charset="-122"/>
                          <a:cs typeface="Calibri" pitchFamily="34" charset="-120"/>
                        </a:rPr>
                        <a:t>Ad, gerçekte ne kullanıldığını söylüyor.</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658368">
                <a:tc>
                  <a:txBody>
                    <a:bodyPr/>
                    <a:lstStyle/>
                    <a:p>
                      <a:pPr indent="0" marL="0">
                        <a:buNone/>
                      </a:pPr>
                      <a:r>
                        <a:rPr lang="en-US" sz="1100" dirty="0">
                          <a:solidFill>
                            <a:srgbClr val="5B6B8C"/>
                          </a:solidFill>
                          <a:latin typeface="Courier New" pitchFamily="34" charset="0"/>
                          <a:ea typeface="Courier New" pitchFamily="34" charset="-122"/>
                          <a:cs typeface="Courier New" pitchFamily="34" charset="-120"/>
                        </a:rPr>
                        <a:t>spring-kafka (elle eklenir)</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b="1" dirty="0">
                          <a:solidFill>
                            <a:srgbClr val="028090"/>
                          </a:solidFill>
                          <a:latin typeface="Courier New" pitchFamily="34" charset="0"/>
                          <a:ea typeface="Courier New" pitchFamily="34" charset="-122"/>
                          <a:cs typeface="Courier New" pitchFamily="34" charset="-120"/>
                        </a:rPr>
                        <a:t>spring-boot-starter-kafka</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200" dirty="0">
                          <a:solidFill>
                            <a:srgbClr val="1B2440"/>
                          </a:solidFill>
                          <a:latin typeface="Calibri" pitchFamily="34" charset="0"/>
                          <a:ea typeface="Calibri" pitchFamily="34" charset="-122"/>
                          <a:cs typeface="Calibri" pitchFamily="34" charset="-120"/>
                        </a:rPr>
                        <a:t>Resmî starter. Sürüm ve auto-configuration BOM üzerinden yönetiliyor.</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bl>
          </a:graphicData>
        </a:graphic>
      </p:graphicFrame>
      <p:sp>
        <p:nvSpPr>
          <p:cNvPr id="5" name="Text 2"/>
          <p:cNvSpPr/>
          <p:nvPr/>
        </p:nvSpPr>
        <p:spPr>
          <a:xfrm>
            <a:off x="548640" y="4828032"/>
            <a:ext cx="6400800" cy="914400"/>
          </a:xfrm>
          <a:prstGeom prst="rect">
            <a:avLst/>
          </a:prstGeom>
          <a:noFill/>
          <a:ln/>
        </p:spPr>
        <p:txBody>
          <a:bodyPr wrap="square" lIns="0" tIns="0" rIns="0" bIns="0" rtlCol="0" anchor="ctr"/>
          <a:lstStyle/>
          <a:p>
            <a:pPr indent="0" marL="0">
              <a:lnSpc>
                <a:spcPct val="120000"/>
              </a:lnSpc>
              <a:buNone/>
            </a:pPr>
            <a:r>
              <a:rPr lang="en-US" sz="1180" i="1" dirty="0">
                <a:solidFill>
                  <a:srgbClr val="5B6B8C"/>
                </a:solidFill>
                <a:latin typeface="Calibri" pitchFamily="34" charset="0"/>
                <a:ea typeface="Calibri" pitchFamily="34" charset="-122"/>
                <a:cs typeface="Calibri" pitchFamily="34" charset="-120"/>
              </a:rPr>
              <a:t>Çok modüllü yapıda dar bağımlılık yüzeyi doğrudan fayda verir: dbs-common bir kütüphane ve onu kullanan her modüle bağımlılıklarını dayatır. Boot 3'te starter-web çekmek WebFlux ve Reactor'ı da sürüklüyordu.</a:t>
            </a:r>
            <a:endParaRPr lang="en-US" sz="1180" dirty="0"/>
          </a:p>
        </p:txBody>
      </p:sp>
      <p:sp>
        <p:nvSpPr>
          <p:cNvPr id="6" name="Shape 3"/>
          <p:cNvSpPr/>
          <p:nvPr/>
        </p:nvSpPr>
        <p:spPr>
          <a:xfrm>
            <a:off x="7178040" y="4828032"/>
            <a:ext cx="4434840" cy="1417320"/>
          </a:xfrm>
          <a:prstGeom prst="roundRect">
            <a:avLst>
              <a:gd name="adj" fmla="val 5806"/>
            </a:avLst>
          </a:prstGeom>
          <a:solidFill>
            <a:srgbClr val="1E2761"/>
          </a:solidFill>
          <a:ln/>
        </p:spPr>
      </p:sp>
      <p:sp>
        <p:nvSpPr>
          <p:cNvPr id="7" name="Text 4"/>
          <p:cNvSpPr/>
          <p:nvPr/>
        </p:nvSpPr>
        <p:spPr>
          <a:xfrm>
            <a:off x="7406640" y="4956048"/>
            <a:ext cx="1828800" cy="731520"/>
          </a:xfrm>
          <a:prstGeom prst="rect">
            <a:avLst/>
          </a:prstGeom>
          <a:noFill/>
          <a:ln/>
        </p:spPr>
        <p:txBody>
          <a:bodyPr wrap="square" lIns="0" tIns="0" rIns="0" bIns="0" rtlCol="0" anchor="ctr"/>
          <a:lstStyle/>
          <a:p>
            <a:pPr indent="0" marL="0">
              <a:buNone/>
            </a:pPr>
            <a:r>
              <a:rPr lang="en-US" sz="4000" b="1" dirty="0">
                <a:solidFill>
                  <a:srgbClr val="02C39A"/>
                </a:solidFill>
                <a:latin typeface="Cambria" pitchFamily="34" charset="0"/>
                <a:ea typeface="Cambria" pitchFamily="34" charset="-122"/>
                <a:cs typeface="Cambria" pitchFamily="34" charset="-120"/>
              </a:rPr>
              <a:t>70+</a:t>
            </a:r>
            <a:endParaRPr lang="en-US" sz="4000" dirty="0"/>
          </a:p>
        </p:txBody>
      </p:sp>
      <p:sp>
        <p:nvSpPr>
          <p:cNvPr id="8" name="Text 5"/>
          <p:cNvSpPr/>
          <p:nvPr/>
        </p:nvSpPr>
        <p:spPr>
          <a:xfrm>
            <a:off x="7406640" y="5577840"/>
            <a:ext cx="4023360" cy="594360"/>
          </a:xfrm>
          <a:prstGeom prst="rect">
            <a:avLst/>
          </a:prstGeom>
          <a:noFill/>
          <a:ln/>
        </p:spPr>
        <p:txBody>
          <a:bodyPr wrap="square" lIns="0" tIns="0" rIns="0" bIns="0" rtlCol="0" anchor="ctr"/>
          <a:lstStyle/>
          <a:p>
            <a:pPr indent="0" marL="0">
              <a:lnSpc>
                <a:spcPct val="115000"/>
              </a:lnSpc>
              <a:buNone/>
            </a:pPr>
            <a:r>
              <a:rPr lang="en-US" sz="1000" dirty="0">
                <a:solidFill>
                  <a:srgbClr val="CADCFC"/>
                </a:solidFill>
                <a:latin typeface="Calibri" pitchFamily="34" charset="0"/>
                <a:ea typeface="Calibri" pitchFamily="34" charset="-122"/>
                <a:cs typeface="Calibri" pitchFamily="34" charset="-120"/>
              </a:rPr>
              <a:t>odaklı modüle bölünmüş Boot 4 codebase'i — ayrıca güvenlik taraması (SBOM) için de daha az yanlış pozitif demek.</a:t>
            </a:r>
            <a:endParaRPr lang="en-US" sz="100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10" name="Text 7"/>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SPRING BOOT 4 · TIP VE NULL GÜVENLIĞI</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Jackson 3 ve JSpecify</a:t>
            </a:r>
            <a:endParaRPr lang="en-US" sz="2800" dirty="0"/>
          </a:p>
        </p:txBody>
      </p:sp>
      <p:sp>
        <p:nvSpPr>
          <p:cNvPr id="4" name="Text 2"/>
          <p:cNvSpPr/>
          <p:nvPr/>
        </p:nvSpPr>
        <p:spPr>
          <a:xfrm>
            <a:off x="548640" y="1536192"/>
            <a:ext cx="548640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Jackson 3 — unchecked serileştirme</a:t>
            </a:r>
            <a:endParaRPr lang="en-US" sz="1500" dirty="0"/>
          </a:p>
        </p:txBody>
      </p:sp>
      <p:sp>
        <p:nvSpPr>
          <p:cNvPr id="5" name="Shape 3"/>
          <p:cNvSpPr/>
          <p:nvPr/>
        </p:nvSpPr>
        <p:spPr>
          <a:xfrm>
            <a:off x="548640" y="1883664"/>
            <a:ext cx="5486400" cy="2106549"/>
          </a:xfrm>
          <a:prstGeom prst="roundRect">
            <a:avLst>
              <a:gd name="adj" fmla="val 3473"/>
            </a:avLst>
          </a:prstGeom>
          <a:solidFill>
            <a:srgbClr val="141A46"/>
          </a:solidFill>
          <a:ln/>
        </p:spPr>
      </p:sp>
      <p:sp>
        <p:nvSpPr>
          <p:cNvPr id="6" name="Text 4"/>
          <p:cNvSpPr/>
          <p:nvPr/>
        </p:nvSpPr>
        <p:spPr>
          <a:xfrm>
            <a:off x="749808" y="2029968"/>
            <a:ext cx="5084064" cy="1813941"/>
          </a:xfrm>
          <a:prstGeom prst="rect">
            <a:avLst/>
          </a:prstGeom>
          <a:noFill/>
          <a:ln/>
        </p:spPr>
        <p:txBody>
          <a:bodyPr wrap="square" lIns="0" tIns="0" rIns="0" bIns="0" rtlCol="0" anchor="t"/>
          <a:lstStyle/>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Boot 3</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ObjectMapper mapper = new ObjectMapper();</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try {</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mapper.writeValueAsString(x);</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catch (JsonProcessingException e) { ... }</a:t>
            </a:r>
            <a:endParaRPr lang="en-US" sz="1150" dirty="0"/>
          </a:p>
          <a:p>
            <a:pPr algn="l" indent="0" marL="0">
              <a:lnSpc>
                <a:spcPct val="118000"/>
              </a:lnSpc>
              <a:buNone/>
            </a:pP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Boot 4 / Jackson 3</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jsonMapper.writeValueAsString(envelope);</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checked exception yok</a:t>
            </a:r>
            <a:endParaRPr lang="en-US" sz="1150" dirty="0"/>
          </a:p>
        </p:txBody>
      </p:sp>
      <p:sp>
        <p:nvSpPr>
          <p:cNvPr id="7" name="Text 5"/>
          <p:cNvSpPr/>
          <p:nvPr/>
        </p:nvSpPr>
        <p:spPr>
          <a:xfrm>
            <a:off x="548640" y="4173093"/>
            <a:ext cx="5486400" cy="1188720"/>
          </a:xfrm>
          <a:prstGeom prst="rect">
            <a:avLst/>
          </a:prstGeom>
          <a:noFill/>
          <a:ln/>
        </p:spPr>
        <p:txBody>
          <a:bodyPr wrap="square" lIns="0" tIns="0" rIns="0" bIns="0" rtlCol="0" anchor="ctr"/>
          <a:lstStyle/>
          <a:p>
            <a:pPr indent="0" marL="0">
              <a:lnSpc>
                <a:spcPct val="120000"/>
              </a:lnSpc>
              <a:buNone/>
            </a:pPr>
            <a:r>
              <a:rPr lang="en-US" sz="1140" dirty="0">
                <a:solidFill>
                  <a:srgbClr val="1B2440"/>
                </a:solidFill>
                <a:latin typeface="Calibri" pitchFamily="34" charset="0"/>
                <a:ea typeface="Calibri" pitchFamily="34" charset="-122"/>
                <a:cs typeface="Calibri" pitchFamily="34" charset="-120"/>
              </a:rPr>
              <a:t>İki fark var. Paket adı com.fasterxml.jackson → tools.jackson oldu. Daha değerlisi: serileştirme istisnaları artık unchecked — KafkaEventPublisher ve OutboxEventPublisher'da JSON üretimi tek satır, try/catch gerekmiyor. Legacy'nin 'her şeyi try/catch'e sar' alışkanlığını beslemiyor.</a:t>
            </a:r>
            <a:endParaRPr lang="en-US" sz="1140" dirty="0"/>
          </a:p>
        </p:txBody>
      </p:sp>
      <p:sp>
        <p:nvSpPr>
          <p:cNvPr id="8" name="Shape 6"/>
          <p:cNvSpPr/>
          <p:nvPr/>
        </p:nvSpPr>
        <p:spPr>
          <a:xfrm>
            <a:off x="6355080" y="1536192"/>
            <a:ext cx="0" cy="4617720"/>
          </a:xfrm>
          <a:prstGeom prst="line">
            <a:avLst/>
          </a:prstGeom>
          <a:noFill/>
          <a:ln w="12700">
            <a:solidFill>
              <a:srgbClr val="D7DEEE"/>
            </a:solidFill>
            <a:prstDash val="solid"/>
          </a:ln>
        </p:spPr>
      </p:sp>
      <p:sp>
        <p:nvSpPr>
          <p:cNvPr id="9" name="Text 7"/>
          <p:cNvSpPr/>
          <p:nvPr/>
        </p:nvSpPr>
        <p:spPr>
          <a:xfrm>
            <a:off x="6629400" y="1536192"/>
            <a:ext cx="502920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JSpecify — null güvenliği IDE'de görünür</a:t>
            </a:r>
            <a:endParaRPr lang="en-US" sz="1500" dirty="0"/>
          </a:p>
        </p:txBody>
      </p:sp>
      <p:sp>
        <p:nvSpPr>
          <p:cNvPr id="10" name="Shape 8"/>
          <p:cNvSpPr/>
          <p:nvPr/>
        </p:nvSpPr>
        <p:spPr>
          <a:xfrm>
            <a:off x="6629400" y="1901952"/>
            <a:ext cx="5029200" cy="2331720"/>
          </a:xfrm>
          <a:prstGeom prst="roundRect">
            <a:avLst>
              <a:gd name="adj" fmla="val 3137"/>
            </a:avLst>
          </a:prstGeom>
          <a:solidFill>
            <a:srgbClr val="EAF7F2"/>
          </a:solidFill>
          <a:ln w="12700">
            <a:solidFill>
              <a:srgbClr val="02C39A"/>
            </a:solidFill>
            <a:prstDash val="solid"/>
          </a:ln>
        </p:spPr>
      </p:sp>
      <p:sp>
        <p:nvSpPr>
          <p:cNvPr id="11" name="Shape 9"/>
          <p:cNvSpPr/>
          <p:nvPr/>
        </p:nvSpPr>
        <p:spPr>
          <a:xfrm>
            <a:off x="6839712" y="2066544"/>
            <a:ext cx="219456" cy="219456"/>
          </a:xfrm>
          <a:prstGeom prst="ellipse">
            <a:avLst/>
          </a:prstGeom>
          <a:solidFill>
            <a:srgbClr val="02C39A"/>
          </a:solidFill>
          <a:ln/>
        </p:spPr>
      </p:sp>
      <p:sp>
        <p:nvSpPr>
          <p:cNvPr id="12" name="Text 10"/>
          <p:cNvSpPr/>
          <p:nvPr/>
        </p:nvSpPr>
        <p:spPr>
          <a:xfrm>
            <a:off x="6839712" y="2066544"/>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7205472" y="2048256"/>
            <a:ext cx="4315968" cy="502920"/>
          </a:xfrm>
          <a:prstGeom prst="rect">
            <a:avLst/>
          </a:prstGeom>
          <a:noFill/>
          <a:ln/>
        </p:spPr>
        <p:txBody>
          <a:bodyPr wrap="square" lIns="0" tIns="0" rIns="0" bIns="0" rtlCol="0" anchor="t"/>
          <a:lstStyle/>
          <a:p>
            <a:pPr indent="0" marL="0">
              <a:lnSpc>
                <a:spcPct val="112000"/>
              </a:lnSpc>
              <a:buNone/>
            </a:pPr>
            <a:r>
              <a:rPr lang="en-US" sz="1060" dirty="0">
                <a:solidFill>
                  <a:srgbClr val="1B2440"/>
                </a:solidFill>
                <a:latin typeface="Calibri" pitchFamily="34" charset="0"/>
                <a:ea typeface="Calibri" pitchFamily="34" charset="-122"/>
                <a:cs typeface="Calibri" pitchFamily="34" charset="-120"/>
              </a:rPr>
              <a:t>Legacy koddaki belirsiz null kontrolleri IDE seviyesinde yakalanıyor.</a:t>
            </a:r>
            <a:endParaRPr lang="en-US" sz="1060" dirty="0"/>
          </a:p>
        </p:txBody>
      </p:sp>
      <p:sp>
        <p:nvSpPr>
          <p:cNvPr id="14" name="Shape 12"/>
          <p:cNvSpPr/>
          <p:nvPr/>
        </p:nvSpPr>
        <p:spPr>
          <a:xfrm>
            <a:off x="6839712" y="2596896"/>
            <a:ext cx="219456" cy="219456"/>
          </a:xfrm>
          <a:prstGeom prst="ellipse">
            <a:avLst/>
          </a:prstGeom>
          <a:solidFill>
            <a:srgbClr val="02C39A"/>
          </a:solidFill>
          <a:ln/>
        </p:spPr>
      </p:sp>
      <p:sp>
        <p:nvSpPr>
          <p:cNvPr id="15" name="Text 13"/>
          <p:cNvSpPr/>
          <p:nvPr/>
        </p:nvSpPr>
        <p:spPr>
          <a:xfrm>
            <a:off x="6839712" y="2596896"/>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7205472" y="2578608"/>
            <a:ext cx="4315968" cy="502920"/>
          </a:xfrm>
          <a:prstGeom prst="rect">
            <a:avLst/>
          </a:prstGeom>
          <a:noFill/>
          <a:ln/>
        </p:spPr>
        <p:txBody>
          <a:bodyPr wrap="square" lIns="0" tIns="0" rIns="0" bIns="0" rtlCol="0" anchor="t"/>
          <a:lstStyle/>
          <a:p>
            <a:pPr indent="0" marL="0">
              <a:lnSpc>
                <a:spcPct val="112000"/>
              </a:lnSpc>
              <a:buNone/>
            </a:pPr>
            <a:r>
              <a:rPr lang="en-US" sz="1060" dirty="0">
                <a:solidFill>
                  <a:srgbClr val="1B2440"/>
                </a:solidFill>
                <a:latin typeface="Calibri" pitchFamily="34" charset="0"/>
                <a:ea typeface="Calibri" pitchFamily="34" charset="-122"/>
                <a:cs typeface="Calibri" pitchFamily="34" charset="-120"/>
              </a:rPr>
              <a:t>dbs-common'daki port arayüzleri (MailClientPort, FileTransferPort) çağıranlar için sözleşme netliği kazanıyor.</a:t>
            </a:r>
            <a:endParaRPr lang="en-US" sz="1060" dirty="0"/>
          </a:p>
        </p:txBody>
      </p:sp>
      <p:sp>
        <p:nvSpPr>
          <p:cNvPr id="17" name="Shape 15"/>
          <p:cNvSpPr/>
          <p:nvPr/>
        </p:nvSpPr>
        <p:spPr>
          <a:xfrm>
            <a:off x="6839712" y="3127248"/>
            <a:ext cx="219456" cy="219456"/>
          </a:xfrm>
          <a:prstGeom prst="ellipse">
            <a:avLst/>
          </a:prstGeom>
          <a:solidFill>
            <a:srgbClr val="02C39A"/>
          </a:solidFill>
          <a:ln/>
        </p:spPr>
      </p:sp>
      <p:sp>
        <p:nvSpPr>
          <p:cNvPr id="18" name="Text 16"/>
          <p:cNvSpPr/>
          <p:nvPr/>
        </p:nvSpPr>
        <p:spPr>
          <a:xfrm>
            <a:off x="6839712" y="3127248"/>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9" name="Text 17"/>
          <p:cNvSpPr/>
          <p:nvPr/>
        </p:nvSpPr>
        <p:spPr>
          <a:xfrm>
            <a:off x="7205472" y="3108960"/>
            <a:ext cx="4315968" cy="502920"/>
          </a:xfrm>
          <a:prstGeom prst="rect">
            <a:avLst/>
          </a:prstGeom>
          <a:noFill/>
          <a:ln/>
        </p:spPr>
        <p:txBody>
          <a:bodyPr wrap="square" lIns="0" tIns="0" rIns="0" bIns="0" rtlCol="0" anchor="t"/>
          <a:lstStyle/>
          <a:p>
            <a:pPr indent="0" marL="0">
              <a:lnSpc>
                <a:spcPct val="112000"/>
              </a:lnSpc>
              <a:buNone/>
            </a:pPr>
            <a:r>
              <a:rPr lang="en-US" sz="1060" dirty="0">
                <a:solidFill>
                  <a:srgbClr val="1B2440"/>
                </a:solidFill>
                <a:latin typeface="Calibri" pitchFamily="34" charset="0"/>
                <a:ea typeface="Calibri" pitchFamily="34" charset="-122"/>
                <a:cs typeface="Calibri" pitchFamily="34" charset="-120"/>
              </a:rPr>
              <a:t>@NullMarked paketlerde her tip varsayılan olarak non-null; sadece @Nullable işaretliler null olabilir.</a:t>
            </a:r>
            <a:endParaRPr lang="en-US" sz="1060" dirty="0"/>
          </a:p>
        </p:txBody>
      </p:sp>
      <p:sp>
        <p:nvSpPr>
          <p:cNvPr id="20" name="Shape 18"/>
          <p:cNvSpPr/>
          <p:nvPr/>
        </p:nvSpPr>
        <p:spPr>
          <a:xfrm>
            <a:off x="6839712" y="3657600"/>
            <a:ext cx="219456" cy="219456"/>
          </a:xfrm>
          <a:prstGeom prst="ellipse">
            <a:avLst/>
          </a:prstGeom>
          <a:solidFill>
            <a:srgbClr val="02C39A"/>
          </a:solidFill>
          <a:ln/>
        </p:spPr>
      </p:sp>
      <p:sp>
        <p:nvSpPr>
          <p:cNvPr id="21" name="Text 19"/>
          <p:cNvSpPr/>
          <p:nvPr/>
        </p:nvSpPr>
        <p:spPr>
          <a:xfrm>
            <a:off x="6839712" y="365760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7205472" y="3639312"/>
            <a:ext cx="4315968" cy="502920"/>
          </a:xfrm>
          <a:prstGeom prst="rect">
            <a:avLst/>
          </a:prstGeom>
          <a:noFill/>
          <a:ln/>
        </p:spPr>
        <p:txBody>
          <a:bodyPr wrap="square" lIns="0" tIns="0" rIns="0" bIns="0" rtlCol="0" anchor="t"/>
          <a:lstStyle/>
          <a:p>
            <a:pPr indent="0" marL="0">
              <a:lnSpc>
                <a:spcPct val="112000"/>
              </a:lnSpc>
              <a:buNone/>
            </a:pPr>
            <a:r>
              <a:rPr lang="en-US" sz="1060" dirty="0">
                <a:solidFill>
                  <a:srgbClr val="1B2440"/>
                </a:solidFill>
                <a:latin typeface="Calibri" pitchFamily="34" charset="0"/>
                <a:ea typeface="Calibri" pitchFamily="34" charset="-122"/>
                <a:cs typeface="Calibri" pitchFamily="34" charset="-120"/>
              </a:rPr>
              <a:t>Statik analiz CI'ya eklendiğinde NullPointerException sınıfının büyük kısmı derleme öncesi elenir.</a:t>
            </a:r>
            <a:endParaRPr lang="en-US" sz="1060" dirty="0"/>
          </a:p>
        </p:txBody>
      </p:sp>
      <p:sp>
        <p:nvSpPr>
          <p:cNvPr id="23" name="Shape 21"/>
          <p:cNvSpPr/>
          <p:nvPr/>
        </p:nvSpPr>
        <p:spPr>
          <a:xfrm>
            <a:off x="548640" y="5394960"/>
            <a:ext cx="11064240" cy="960120"/>
          </a:xfrm>
          <a:prstGeom prst="roundRect">
            <a:avLst>
              <a:gd name="adj" fmla="val 7619"/>
            </a:avLst>
          </a:prstGeom>
          <a:solidFill>
            <a:srgbClr val="F7F9FC"/>
          </a:solidFill>
          <a:ln w="12700">
            <a:solidFill>
              <a:srgbClr val="E1E7F3"/>
            </a:solidFill>
            <a:prstDash val="solid"/>
          </a:ln>
        </p:spPr>
      </p:sp>
      <p:sp>
        <p:nvSpPr>
          <p:cNvPr id="24" name="Shape 22"/>
          <p:cNvSpPr/>
          <p:nvPr/>
        </p:nvSpPr>
        <p:spPr>
          <a:xfrm>
            <a:off x="978408" y="5618988"/>
            <a:ext cx="512064" cy="512064"/>
          </a:xfrm>
          <a:prstGeom prst="ellipse">
            <a:avLst/>
          </a:prstGeom>
          <a:solidFill>
            <a:srgbClr val="1E2761"/>
          </a:solidFill>
          <a:ln/>
        </p:spPr>
      </p:sp>
      <p:sp>
        <p:nvSpPr>
          <p:cNvPr id="25" name="Text 23"/>
          <p:cNvSpPr/>
          <p:nvPr/>
        </p:nvSpPr>
        <p:spPr>
          <a:xfrm>
            <a:off x="978408" y="561898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a:t>
            </a:r>
            <a:endParaRPr lang="en-US" sz="2000" dirty="0"/>
          </a:p>
        </p:txBody>
      </p:sp>
      <p:sp>
        <p:nvSpPr>
          <p:cNvPr id="26" name="Text 24"/>
          <p:cNvSpPr/>
          <p:nvPr/>
        </p:nvSpPr>
        <p:spPr>
          <a:xfrm>
            <a:off x="1737360" y="5504688"/>
            <a:ext cx="9601200" cy="740664"/>
          </a:xfrm>
          <a:prstGeom prst="rect">
            <a:avLst/>
          </a:prstGeom>
          <a:noFill/>
          <a:ln/>
        </p:spPr>
        <p:txBody>
          <a:bodyPr wrap="square" lIns="0" tIns="0" rIns="0" bIns="0" rtlCol="0" anchor="t"/>
          <a:lstStyle/>
          <a:p>
            <a:pPr indent="0" marL="0">
              <a:lnSpc>
                <a:spcPct val="118000"/>
              </a:lnSpc>
              <a:buNone/>
            </a:pPr>
            <a:r>
              <a:rPr lang="en-US" sz="1160" b="1" dirty="0">
                <a:solidFill>
                  <a:srgbClr val="1E2761"/>
                </a:solidFill>
                <a:latin typeface="Calibri" pitchFamily="34" charset="0"/>
                <a:ea typeface="Calibri" pitchFamily="34" charset="-122"/>
                <a:cs typeface="Calibri" pitchFamily="34" charset="-120"/>
              </a:rPr>
              <a:t>Neden tools.jackson? </a:t>
            </a:r>
            <a:pPr indent="0" marL="0">
              <a:lnSpc>
                <a:spcPct val="118000"/>
              </a:lnSpc>
              <a:buNone/>
            </a:pPr>
            <a:r>
              <a:rPr lang="en-US" sz="1160" dirty="0">
                <a:solidFill>
                  <a:srgbClr val="1B2440"/>
                </a:solidFill>
                <a:latin typeface="Calibri" pitchFamily="34" charset="0"/>
                <a:ea typeface="Calibri" pitchFamily="34" charset="-122"/>
                <a:cs typeface="Calibri" pitchFamily="34" charset="-120"/>
              </a:rPr>
              <a:t>Jackson 2.x ve 3.x aynı classpath'te birlikte durabiliyor — bu, büyük bir kod tabanını tek seferde değil modül modül taşımak isteyen ekipler için tasarlanmış bir karar. dbs-platform'un kendisi de kademeli geçiş senaryosunda.</a:t>
            </a:r>
            <a:endParaRPr lang="en-US" sz="1160" dirty="0"/>
          </a:p>
        </p:txBody>
      </p:sp>
      <p:sp>
        <p:nvSpPr>
          <p:cNvPr id="27" name="Text 2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28" name="Text 26"/>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ÇEVRESEL KAZANIMLAR · KAFKA</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Idempotent Producer — üç ayar birlikte çalışır</a:t>
            </a:r>
            <a:endParaRPr lang="en-US" sz="2800" dirty="0"/>
          </a:p>
        </p:txBody>
      </p:sp>
      <p:sp>
        <p:nvSpPr>
          <p:cNvPr id="4" name="Shape 2"/>
          <p:cNvSpPr/>
          <p:nvPr/>
        </p:nvSpPr>
        <p:spPr>
          <a:xfrm>
            <a:off x="548640" y="1554480"/>
            <a:ext cx="5394960" cy="1965960"/>
          </a:xfrm>
          <a:prstGeom prst="roundRect">
            <a:avLst>
              <a:gd name="adj" fmla="val 3721"/>
            </a:avLst>
          </a:prstGeom>
          <a:solidFill>
            <a:srgbClr val="141A46"/>
          </a:solidFill>
          <a:ln/>
        </p:spPr>
      </p:sp>
      <p:sp>
        <p:nvSpPr>
          <p:cNvPr id="5" name="Text 3"/>
          <p:cNvSpPr/>
          <p:nvPr/>
        </p:nvSpPr>
        <p:spPr>
          <a:xfrm>
            <a:off x="749808" y="1700784"/>
            <a:ext cx="4992624" cy="1673352"/>
          </a:xfrm>
          <a:prstGeom prst="rect">
            <a:avLst/>
          </a:prstGeom>
          <a:noFill/>
          <a:ln/>
        </p:spPr>
        <p:txBody>
          <a:bodyPr wrap="square" lIns="0" tIns="0" rIns="0" bIns="0" rtlCol="0" anchor="t"/>
          <a:lstStyle/>
          <a:p>
            <a:pPr algn="l" indent="0" marL="0">
              <a:lnSpc>
                <a:spcPct val="118000"/>
              </a:lnSpc>
              <a:buNone/>
            </a:pPr>
            <a:r>
              <a:rPr lang="en-US" sz="1130" dirty="0">
                <a:solidFill>
                  <a:srgbClr val="D7F7EC"/>
                </a:solidFill>
                <a:latin typeface="Courier New" pitchFamily="34" charset="0"/>
                <a:ea typeface="Courier New" pitchFamily="34" charset="-122"/>
                <a:cs typeface="Courier New" pitchFamily="34" charset="-120"/>
              </a:rPr>
              <a:t>kafka:</a:t>
            </a:r>
            <a:endParaRPr lang="en-US" sz="1130" dirty="0"/>
          </a:p>
          <a:p>
            <a:pPr algn="l" indent="0" marL="0">
              <a:lnSpc>
                <a:spcPct val="118000"/>
              </a:lnSpc>
              <a:buNone/>
            </a:pPr>
            <a:r>
              <a:rPr lang="en-US" sz="1130" dirty="0">
                <a:solidFill>
                  <a:srgbClr val="D7F7EC"/>
                </a:solidFill>
                <a:latin typeface="Courier New" pitchFamily="34" charset="0"/>
                <a:ea typeface="Courier New" pitchFamily="34" charset="-122"/>
                <a:cs typeface="Courier New" pitchFamily="34" charset="-120"/>
              </a:rPr>
              <a:t>  producer:</a:t>
            </a:r>
            <a:endParaRPr lang="en-US" sz="1130" dirty="0"/>
          </a:p>
          <a:p>
            <a:pPr algn="l" indent="0" marL="0">
              <a:lnSpc>
                <a:spcPct val="118000"/>
              </a:lnSpc>
              <a:buNone/>
            </a:pPr>
            <a:r>
              <a:rPr lang="en-US" sz="1130" dirty="0">
                <a:solidFill>
                  <a:srgbClr val="D7F7EC"/>
                </a:solidFill>
                <a:latin typeface="Courier New" pitchFamily="34" charset="0"/>
                <a:ea typeface="Courier New" pitchFamily="34" charset="-122"/>
                <a:cs typeface="Courier New" pitchFamily="34" charset="-120"/>
              </a:rPr>
              <a:t>    acks: all</a:t>
            </a:r>
            <a:endParaRPr lang="en-US" sz="1130" dirty="0"/>
          </a:p>
          <a:p>
            <a:pPr algn="l" indent="0" marL="0">
              <a:lnSpc>
                <a:spcPct val="118000"/>
              </a:lnSpc>
              <a:buNone/>
            </a:pPr>
            <a:r>
              <a:rPr lang="en-US" sz="1130" dirty="0">
                <a:solidFill>
                  <a:srgbClr val="D7F7EC"/>
                </a:solidFill>
                <a:latin typeface="Courier New" pitchFamily="34" charset="0"/>
                <a:ea typeface="Courier New" pitchFamily="34" charset="-122"/>
                <a:cs typeface="Courier New" pitchFamily="34" charset="-120"/>
              </a:rPr>
              <a:t>    retries: 5</a:t>
            </a:r>
            <a:endParaRPr lang="en-US" sz="1130" dirty="0"/>
          </a:p>
          <a:p>
            <a:pPr algn="l" indent="0" marL="0">
              <a:lnSpc>
                <a:spcPct val="118000"/>
              </a:lnSpc>
              <a:buNone/>
            </a:pPr>
            <a:r>
              <a:rPr lang="en-US" sz="1130" dirty="0">
                <a:solidFill>
                  <a:srgbClr val="D7F7EC"/>
                </a:solidFill>
                <a:latin typeface="Courier New" pitchFamily="34" charset="0"/>
                <a:ea typeface="Courier New" pitchFamily="34" charset="-122"/>
                <a:cs typeface="Courier New" pitchFamily="34" charset="-120"/>
              </a:rPr>
              <a:t>    properties:</a:t>
            </a:r>
            <a:endParaRPr lang="en-US" sz="1130" dirty="0"/>
          </a:p>
          <a:p>
            <a:pPr algn="l" indent="0" marL="0">
              <a:lnSpc>
                <a:spcPct val="118000"/>
              </a:lnSpc>
              <a:buNone/>
            </a:pPr>
            <a:r>
              <a:rPr lang="en-US" sz="1130" dirty="0">
                <a:solidFill>
                  <a:srgbClr val="D7F7EC"/>
                </a:solidFill>
                <a:latin typeface="Courier New" pitchFamily="34" charset="0"/>
                <a:ea typeface="Courier New" pitchFamily="34" charset="-122"/>
                <a:cs typeface="Courier New" pitchFamily="34" charset="-120"/>
              </a:rPr>
              <a:t>      enable.idempotence: true</a:t>
            </a:r>
            <a:endParaRPr lang="en-US" sz="1130" dirty="0"/>
          </a:p>
          <a:p>
            <a:pPr algn="l" indent="0" marL="0">
              <a:lnSpc>
                <a:spcPct val="118000"/>
              </a:lnSpc>
              <a:buNone/>
            </a:pPr>
            <a:r>
              <a:rPr lang="en-US" sz="1130" dirty="0">
                <a:solidFill>
                  <a:srgbClr val="D7F7EC"/>
                </a:solidFill>
                <a:latin typeface="Courier New" pitchFamily="34" charset="0"/>
                <a:ea typeface="Courier New" pitchFamily="34" charset="-122"/>
                <a:cs typeface="Courier New" pitchFamily="34" charset="-120"/>
              </a:rPr>
              <a:t>      max.in.flight.requests.per.connection: 5</a:t>
            </a:r>
            <a:endParaRPr lang="en-US" sz="1130" dirty="0"/>
          </a:p>
          <a:p>
            <a:pPr algn="l" indent="0" marL="0">
              <a:lnSpc>
                <a:spcPct val="118000"/>
              </a:lnSpc>
              <a:buNone/>
            </a:pPr>
            <a:r>
              <a:rPr lang="en-US" sz="1130" dirty="0">
                <a:solidFill>
                  <a:srgbClr val="D7F7EC"/>
                </a:solidFill>
                <a:latin typeface="Courier New" pitchFamily="34" charset="0"/>
                <a:ea typeface="Courier New" pitchFamily="34" charset="-122"/>
                <a:cs typeface="Courier New" pitchFamily="34" charset="-120"/>
              </a:rPr>
              <a:t>      compression.type: snappy</a:t>
            </a:r>
            <a:endParaRPr lang="en-US" sz="1130" dirty="0"/>
          </a:p>
        </p:txBody>
      </p:sp>
      <p:sp>
        <p:nvSpPr>
          <p:cNvPr id="6" name="Text 4"/>
          <p:cNvSpPr/>
          <p:nvPr/>
        </p:nvSpPr>
        <p:spPr>
          <a:xfrm>
            <a:off x="548640" y="3703320"/>
            <a:ext cx="5394960" cy="914400"/>
          </a:xfrm>
          <a:prstGeom prst="rect">
            <a:avLst/>
          </a:prstGeom>
          <a:noFill/>
          <a:ln/>
        </p:spPr>
        <p:txBody>
          <a:bodyPr wrap="square" lIns="0" tIns="0" rIns="0" bIns="0" rtlCol="0" anchor="ctr"/>
          <a:lstStyle/>
          <a:p>
            <a:pPr indent="0" marL="0">
              <a:lnSpc>
                <a:spcPct val="120000"/>
              </a:lnSpc>
              <a:buNone/>
            </a:pPr>
            <a:r>
              <a:rPr lang="en-US" sz="1100" dirty="0">
                <a:solidFill>
                  <a:srgbClr val="1B2440"/>
                </a:solidFill>
                <a:latin typeface="Calibri" pitchFamily="34" charset="0"/>
                <a:ea typeface="Calibri" pitchFamily="34" charset="-122"/>
                <a:cs typeface="Calibri" pitchFamily="34" charset="-120"/>
              </a:rPr>
              <a:t>Partition key: messageId → aynı mail'e ait olaylar her zaman aynı partition'a gider, bu da o mail için sıra garantisi sağlar (Kafka sadece partition içinde sıra garantisi verir).</a:t>
            </a:r>
            <a:endParaRPr lang="en-US" sz="1100" dirty="0"/>
          </a:p>
        </p:txBody>
      </p:sp>
      <p:sp>
        <p:nvSpPr>
          <p:cNvPr id="7" name="Shape 5"/>
          <p:cNvSpPr/>
          <p:nvPr/>
        </p:nvSpPr>
        <p:spPr>
          <a:xfrm>
            <a:off x="548640" y="4709160"/>
            <a:ext cx="3108960" cy="292608"/>
          </a:xfrm>
          <a:prstGeom prst="roundRect">
            <a:avLst>
              <a:gd name="adj" fmla="val 50000"/>
            </a:avLst>
          </a:prstGeom>
          <a:solidFill>
            <a:srgbClr val="EAF7F2"/>
          </a:solidFill>
          <a:ln/>
        </p:spPr>
      </p:sp>
      <p:sp>
        <p:nvSpPr>
          <p:cNvPr id="8" name="Text 6"/>
          <p:cNvSpPr/>
          <p:nvPr/>
        </p:nvSpPr>
        <p:spPr>
          <a:xfrm>
            <a:off x="548640" y="4709160"/>
            <a:ext cx="3108960" cy="292608"/>
          </a:xfrm>
          <a:prstGeom prst="rect">
            <a:avLst/>
          </a:prstGeom>
          <a:noFill/>
          <a:ln/>
        </p:spPr>
        <p:txBody>
          <a:bodyPr wrap="square" lIns="0" tIns="0" rIns="0" bIns="0"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compression.type: snappy — hız/CPU dengesi</a:t>
            </a:r>
            <a:endParaRPr lang="en-US" sz="1000" dirty="0"/>
          </a:p>
        </p:txBody>
      </p:sp>
      <p:sp>
        <p:nvSpPr>
          <p:cNvPr id="9" name="Shape 7"/>
          <p:cNvSpPr/>
          <p:nvPr/>
        </p:nvSpPr>
        <p:spPr>
          <a:xfrm>
            <a:off x="6263640" y="1554480"/>
            <a:ext cx="0" cy="4480560"/>
          </a:xfrm>
          <a:prstGeom prst="line">
            <a:avLst/>
          </a:prstGeom>
          <a:noFill/>
          <a:ln w="12700">
            <a:solidFill>
              <a:srgbClr val="D7DEEE"/>
            </a:solidFill>
            <a:prstDash val="solid"/>
          </a:ln>
        </p:spPr>
      </p:sp>
      <p:sp>
        <p:nvSpPr>
          <p:cNvPr id="10" name="Text 8"/>
          <p:cNvSpPr/>
          <p:nvPr/>
        </p:nvSpPr>
        <p:spPr>
          <a:xfrm>
            <a:off x="6537960" y="1554480"/>
            <a:ext cx="502920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Üç ayarın birlikte anlamı</a:t>
            </a:r>
            <a:endParaRPr lang="en-US" sz="1500" dirty="0"/>
          </a:p>
        </p:txBody>
      </p:sp>
      <p:sp>
        <p:nvSpPr>
          <p:cNvPr id="11" name="Shape 9"/>
          <p:cNvSpPr/>
          <p:nvPr/>
        </p:nvSpPr>
        <p:spPr>
          <a:xfrm>
            <a:off x="6537960" y="1965960"/>
            <a:ext cx="5074920" cy="1051560"/>
          </a:xfrm>
          <a:prstGeom prst="roundRect">
            <a:avLst>
              <a:gd name="adj" fmla="val 6087"/>
            </a:avLst>
          </a:prstGeom>
          <a:solidFill>
            <a:srgbClr val="FFFFFF"/>
          </a:solidFill>
          <a:ln w="12700">
            <a:solidFill>
              <a:srgbClr val="E1E7F3"/>
            </a:solidFill>
            <a:prstDash val="solid"/>
          </a:ln>
        </p:spPr>
      </p:sp>
      <p:sp>
        <p:nvSpPr>
          <p:cNvPr id="12" name="Text 10"/>
          <p:cNvSpPr/>
          <p:nvPr/>
        </p:nvSpPr>
        <p:spPr>
          <a:xfrm>
            <a:off x="6720840" y="2057400"/>
            <a:ext cx="4754880" cy="274320"/>
          </a:xfrm>
          <a:prstGeom prst="rect">
            <a:avLst/>
          </a:prstGeom>
          <a:noFill/>
          <a:ln/>
        </p:spPr>
        <p:txBody>
          <a:bodyPr wrap="square" lIns="0" tIns="0" rIns="0" bIns="0" rtlCol="0" anchor="ctr"/>
          <a:lstStyle/>
          <a:p>
            <a:pPr indent="0" marL="0">
              <a:buNone/>
            </a:pPr>
            <a:r>
              <a:rPr lang="en-US" sz="1100" b="1" dirty="0">
                <a:solidFill>
                  <a:srgbClr val="028090"/>
                </a:solidFill>
                <a:latin typeface="Courier New" pitchFamily="34" charset="0"/>
                <a:ea typeface="Courier New" pitchFamily="34" charset="-122"/>
                <a:cs typeface="Courier New" pitchFamily="34" charset="-120"/>
              </a:rPr>
              <a:t>acks: all</a:t>
            </a:r>
            <a:endParaRPr lang="en-US" sz="1100" dirty="0"/>
          </a:p>
        </p:txBody>
      </p:sp>
      <p:sp>
        <p:nvSpPr>
          <p:cNvPr id="13" name="Text 11"/>
          <p:cNvSpPr/>
          <p:nvPr/>
        </p:nvSpPr>
        <p:spPr>
          <a:xfrm>
            <a:off x="6720840" y="2350008"/>
            <a:ext cx="4754880" cy="621792"/>
          </a:xfrm>
          <a:prstGeom prst="rect">
            <a:avLst/>
          </a:prstGeom>
          <a:noFill/>
          <a:ln/>
        </p:spPr>
        <p:txBody>
          <a:bodyPr wrap="square" lIns="0" tIns="0" rIns="0" bIns="0" rtlCol="0" anchor="ctr"/>
          <a:lstStyle/>
          <a:p>
            <a:pPr indent="0" marL="0">
              <a:lnSpc>
                <a:spcPct val="114000"/>
              </a:lnSpc>
              <a:buNone/>
            </a:pPr>
            <a:r>
              <a:rPr lang="en-US" sz="1020" dirty="0">
                <a:solidFill>
                  <a:srgbClr val="1B2440"/>
                </a:solidFill>
                <a:latin typeface="Calibri" pitchFamily="34" charset="0"/>
                <a:ea typeface="Calibri" pitchFamily="34" charset="-122"/>
                <a:cs typeface="Calibri" pitchFamily="34" charset="-120"/>
              </a:rPr>
              <a:t>Mesaj sadece lidere değil, tüm senkron replikalara yazılana kadar onaylanmaz — lider çökerse mesaj kaybolmaz.</a:t>
            </a:r>
            <a:endParaRPr lang="en-US" sz="1020" dirty="0"/>
          </a:p>
        </p:txBody>
      </p:sp>
      <p:sp>
        <p:nvSpPr>
          <p:cNvPr id="14" name="Shape 12"/>
          <p:cNvSpPr/>
          <p:nvPr/>
        </p:nvSpPr>
        <p:spPr>
          <a:xfrm>
            <a:off x="6537960" y="3154680"/>
            <a:ext cx="5074920" cy="1051560"/>
          </a:xfrm>
          <a:prstGeom prst="roundRect">
            <a:avLst>
              <a:gd name="adj" fmla="val 6087"/>
            </a:avLst>
          </a:prstGeom>
          <a:solidFill>
            <a:srgbClr val="FFFFFF"/>
          </a:solidFill>
          <a:ln w="12700">
            <a:solidFill>
              <a:srgbClr val="E1E7F3"/>
            </a:solidFill>
            <a:prstDash val="solid"/>
          </a:ln>
        </p:spPr>
      </p:sp>
      <p:sp>
        <p:nvSpPr>
          <p:cNvPr id="15" name="Text 13"/>
          <p:cNvSpPr/>
          <p:nvPr/>
        </p:nvSpPr>
        <p:spPr>
          <a:xfrm>
            <a:off x="6720840" y="3246120"/>
            <a:ext cx="4754880" cy="274320"/>
          </a:xfrm>
          <a:prstGeom prst="rect">
            <a:avLst/>
          </a:prstGeom>
          <a:noFill/>
          <a:ln/>
        </p:spPr>
        <p:txBody>
          <a:bodyPr wrap="square" lIns="0" tIns="0" rIns="0" bIns="0" rtlCol="0" anchor="ctr"/>
          <a:lstStyle/>
          <a:p>
            <a:pPr indent="0" marL="0">
              <a:buNone/>
            </a:pPr>
            <a:r>
              <a:rPr lang="en-US" sz="1100" b="1" dirty="0">
                <a:solidFill>
                  <a:srgbClr val="028090"/>
                </a:solidFill>
                <a:latin typeface="Courier New" pitchFamily="34" charset="0"/>
                <a:ea typeface="Courier New" pitchFamily="34" charset="-122"/>
                <a:cs typeface="Courier New" pitchFamily="34" charset="-120"/>
              </a:rPr>
              <a:t>enable.idempotence: true</a:t>
            </a:r>
            <a:endParaRPr lang="en-US" sz="1100" dirty="0"/>
          </a:p>
        </p:txBody>
      </p:sp>
      <p:sp>
        <p:nvSpPr>
          <p:cNvPr id="16" name="Text 14"/>
          <p:cNvSpPr/>
          <p:nvPr/>
        </p:nvSpPr>
        <p:spPr>
          <a:xfrm>
            <a:off x="6720840" y="3538728"/>
            <a:ext cx="4754880" cy="621792"/>
          </a:xfrm>
          <a:prstGeom prst="rect">
            <a:avLst/>
          </a:prstGeom>
          <a:noFill/>
          <a:ln/>
        </p:spPr>
        <p:txBody>
          <a:bodyPr wrap="square" lIns="0" tIns="0" rIns="0" bIns="0" rtlCol="0" anchor="ctr"/>
          <a:lstStyle/>
          <a:p>
            <a:pPr indent="0" marL="0">
              <a:lnSpc>
                <a:spcPct val="114000"/>
              </a:lnSpc>
              <a:buNone/>
            </a:pPr>
            <a:r>
              <a:rPr lang="en-US" sz="1020" dirty="0">
                <a:solidFill>
                  <a:srgbClr val="1B2440"/>
                </a:solidFill>
                <a:latin typeface="Calibri" pitchFamily="34" charset="0"/>
                <a:ea typeface="Calibri" pitchFamily="34" charset="-122"/>
                <a:cs typeface="Calibri" pitchFamily="34" charset="-120"/>
              </a:rPr>
              <a:t>Her mesaja bir sıra numarası eklenir; broker aynı numarayı ikinci kez görürse kopyayı sessizce atar. 'Retry attım ama mesaj aslında gitmişti' senaryosunda çift yazımı önler.</a:t>
            </a:r>
            <a:endParaRPr lang="en-US" sz="1020" dirty="0"/>
          </a:p>
        </p:txBody>
      </p:sp>
      <p:sp>
        <p:nvSpPr>
          <p:cNvPr id="17" name="Shape 15"/>
          <p:cNvSpPr/>
          <p:nvPr/>
        </p:nvSpPr>
        <p:spPr>
          <a:xfrm>
            <a:off x="6537960" y="4343400"/>
            <a:ext cx="5074920" cy="1051560"/>
          </a:xfrm>
          <a:prstGeom prst="roundRect">
            <a:avLst>
              <a:gd name="adj" fmla="val 6087"/>
            </a:avLst>
          </a:prstGeom>
          <a:solidFill>
            <a:srgbClr val="FFFFFF"/>
          </a:solidFill>
          <a:ln w="12700">
            <a:solidFill>
              <a:srgbClr val="E1E7F3"/>
            </a:solidFill>
            <a:prstDash val="solid"/>
          </a:ln>
        </p:spPr>
      </p:sp>
      <p:sp>
        <p:nvSpPr>
          <p:cNvPr id="18" name="Text 16"/>
          <p:cNvSpPr/>
          <p:nvPr/>
        </p:nvSpPr>
        <p:spPr>
          <a:xfrm>
            <a:off x="6720840" y="4434840"/>
            <a:ext cx="4754880" cy="274320"/>
          </a:xfrm>
          <a:prstGeom prst="rect">
            <a:avLst/>
          </a:prstGeom>
          <a:noFill/>
          <a:ln/>
        </p:spPr>
        <p:txBody>
          <a:bodyPr wrap="square" lIns="0" tIns="0" rIns="0" bIns="0" rtlCol="0" anchor="ctr"/>
          <a:lstStyle/>
          <a:p>
            <a:pPr indent="0" marL="0">
              <a:buNone/>
            </a:pPr>
            <a:r>
              <a:rPr lang="en-US" sz="1100" b="1" dirty="0">
                <a:solidFill>
                  <a:srgbClr val="028090"/>
                </a:solidFill>
                <a:latin typeface="Courier New" pitchFamily="34" charset="0"/>
                <a:ea typeface="Courier New" pitchFamily="34" charset="-122"/>
                <a:cs typeface="Courier New" pitchFamily="34" charset="-120"/>
              </a:rPr>
              <a:t>max.in.flight.requests: 5</a:t>
            </a:r>
            <a:endParaRPr lang="en-US" sz="1100" dirty="0"/>
          </a:p>
        </p:txBody>
      </p:sp>
      <p:sp>
        <p:nvSpPr>
          <p:cNvPr id="19" name="Text 17"/>
          <p:cNvSpPr/>
          <p:nvPr/>
        </p:nvSpPr>
        <p:spPr>
          <a:xfrm>
            <a:off x="6720840" y="4727448"/>
            <a:ext cx="4754880" cy="621792"/>
          </a:xfrm>
          <a:prstGeom prst="rect">
            <a:avLst/>
          </a:prstGeom>
          <a:noFill/>
          <a:ln/>
        </p:spPr>
        <p:txBody>
          <a:bodyPr wrap="square" lIns="0" tIns="0" rIns="0" bIns="0" rtlCol="0" anchor="ctr"/>
          <a:lstStyle/>
          <a:p>
            <a:pPr indent="0" marL="0">
              <a:lnSpc>
                <a:spcPct val="114000"/>
              </a:lnSpc>
              <a:buNone/>
            </a:pPr>
            <a:r>
              <a:rPr lang="en-US" sz="1020" dirty="0">
                <a:solidFill>
                  <a:srgbClr val="1B2440"/>
                </a:solidFill>
                <a:latin typeface="Calibri" pitchFamily="34" charset="0"/>
                <a:ea typeface="Calibri" pitchFamily="34" charset="-122"/>
                <a:cs typeface="Calibri" pitchFamily="34" charset="-120"/>
              </a:rPr>
              <a:t>İdempotent producer'ın sıra numaralarını doğru koruyabilmesi için onaylanmamış istek sayısı sınırlı olmalı. KIP-192 sonrası bu sınır 5'e kadar çıkabiliyor — hem sıralama korunur hem paralellik kazanılır.</a:t>
            </a:r>
            <a:endParaRPr lang="en-US" sz="1020" dirty="0"/>
          </a:p>
        </p:txBody>
      </p:sp>
      <p:sp>
        <p:nvSpPr>
          <p:cNvPr id="20" name="Text 1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21" name="Text 19"/>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ÇEVRESEL KAZANIMLAR · RABBITMQ</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Neden İki Broker? — RabbitMQ ve Outbox Deseni</a:t>
            </a:r>
            <a:endParaRPr lang="en-US" sz="2800" dirty="0"/>
          </a:p>
        </p:txBody>
      </p:sp>
      <p:sp>
        <p:nvSpPr>
          <p:cNvPr id="4" name="Text 2"/>
          <p:cNvSpPr/>
          <p:nvPr/>
        </p:nvSpPr>
        <p:spPr>
          <a:xfrm>
            <a:off x="548640" y="1517904"/>
            <a:ext cx="11064240" cy="685800"/>
          </a:xfrm>
          <a:prstGeom prst="rect">
            <a:avLst/>
          </a:prstGeom>
          <a:noFill/>
          <a:ln/>
        </p:spPr>
        <p:txBody>
          <a:bodyPr wrap="square" lIns="0" tIns="0" rIns="0" bIns="0" rtlCol="0" anchor="ctr"/>
          <a:lstStyle/>
          <a:p>
            <a:pPr indent="0" marL="0">
              <a:lnSpc>
                <a:spcPct val="120000"/>
              </a:lnSpc>
              <a:buNone/>
            </a:pPr>
            <a:r>
              <a:rPr lang="en-US" sz="1230" dirty="0">
                <a:solidFill>
                  <a:srgbClr val="1B2440"/>
                </a:solidFill>
                <a:latin typeface="Calibri" pitchFamily="34" charset="0"/>
                <a:ea typeface="Calibri" pitchFamily="34" charset="-122"/>
                <a:cs typeface="Calibri" pitchFamily="34" charset="-120"/>
              </a:rPr>
              <a:t>Kafka dayanıklı, tekrar okunabilir bir olay günlüğü — birden fazla bağımsız tüketici kendi hızında okuyabilir. RabbitMQ ise noktadan noktaya, düşük gecikmeli bildirim/entegrasyon için (örn. legacy bir sisteme 'dosya geldi' bildirimi). İki broker aynı işi yapan alternatifler değil, farklı rolde.</a:t>
            </a:r>
            <a:endParaRPr lang="en-US" sz="1230" dirty="0"/>
          </a:p>
        </p:txBody>
      </p:sp>
      <p:sp>
        <p:nvSpPr>
          <p:cNvPr id="5" name="Text 3"/>
          <p:cNvSpPr/>
          <p:nvPr/>
        </p:nvSpPr>
        <p:spPr>
          <a:xfrm>
            <a:off x="548640" y="2331720"/>
            <a:ext cx="5394960" cy="292608"/>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RabbitMQ Konfigürasyonu</a:t>
            </a:r>
            <a:endParaRPr lang="en-US" sz="1400" dirty="0"/>
          </a:p>
        </p:txBody>
      </p:sp>
      <p:sp>
        <p:nvSpPr>
          <p:cNvPr id="6" name="Shape 4"/>
          <p:cNvSpPr/>
          <p:nvPr/>
        </p:nvSpPr>
        <p:spPr>
          <a:xfrm>
            <a:off x="548640" y="2651760"/>
            <a:ext cx="5394960" cy="1300353"/>
          </a:xfrm>
          <a:prstGeom prst="roundRect">
            <a:avLst>
              <a:gd name="adj" fmla="val 5626"/>
            </a:avLst>
          </a:prstGeom>
          <a:solidFill>
            <a:srgbClr val="141A46"/>
          </a:solidFill>
          <a:ln/>
        </p:spPr>
      </p:sp>
      <p:sp>
        <p:nvSpPr>
          <p:cNvPr id="7" name="Text 5"/>
          <p:cNvSpPr/>
          <p:nvPr/>
        </p:nvSpPr>
        <p:spPr>
          <a:xfrm>
            <a:off x="749808" y="2798064"/>
            <a:ext cx="4992624" cy="1007745"/>
          </a:xfrm>
          <a:prstGeom prst="rect">
            <a:avLst/>
          </a:prstGeom>
          <a:noFill/>
          <a:ln/>
        </p:spPr>
        <p:txBody>
          <a:bodyPr wrap="square" lIns="0" tIns="0" rIns="0" bIns="0" rtlCol="0" anchor="t"/>
          <a:lstStyle/>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rabbitmq:</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publisher-confirm-type: correlated</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publisher-returns: true</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template:</a:t>
            </a:r>
            <a:endParaRPr lang="en-US" sz="1150" dirty="0"/>
          </a:p>
          <a:p>
            <a:pPr algn="l" indent="0" marL="0">
              <a:lnSpc>
                <a:spcPct val="118000"/>
              </a:lnSpc>
              <a:buNone/>
            </a:pPr>
            <a:r>
              <a:rPr lang="en-US" sz="1150" dirty="0">
                <a:solidFill>
                  <a:srgbClr val="D7F7EC"/>
                </a:solidFill>
                <a:latin typeface="Courier New" pitchFamily="34" charset="0"/>
                <a:ea typeface="Courier New" pitchFamily="34" charset="-122"/>
                <a:cs typeface="Courier New" pitchFamily="34" charset="-120"/>
              </a:rPr>
              <a:t>    mandatory: true</a:t>
            </a:r>
            <a:endParaRPr lang="en-US" sz="1150" dirty="0"/>
          </a:p>
        </p:txBody>
      </p:sp>
      <p:sp>
        <p:nvSpPr>
          <p:cNvPr id="8" name="Shape 6"/>
          <p:cNvSpPr/>
          <p:nvPr/>
        </p:nvSpPr>
        <p:spPr>
          <a:xfrm>
            <a:off x="548640" y="4134993"/>
            <a:ext cx="5394960" cy="1371600"/>
          </a:xfrm>
          <a:prstGeom prst="roundRect">
            <a:avLst>
              <a:gd name="adj" fmla="val 5333"/>
            </a:avLst>
          </a:prstGeom>
          <a:solidFill>
            <a:srgbClr val="EAF7F2"/>
          </a:solidFill>
          <a:ln w="12700">
            <a:solidFill>
              <a:srgbClr val="02C39A"/>
            </a:solidFill>
            <a:prstDash val="solid"/>
          </a:ln>
        </p:spPr>
      </p:sp>
      <p:sp>
        <p:nvSpPr>
          <p:cNvPr id="9" name="Shape 7"/>
          <p:cNvSpPr/>
          <p:nvPr/>
        </p:nvSpPr>
        <p:spPr>
          <a:xfrm>
            <a:off x="978408" y="4564761"/>
            <a:ext cx="512064" cy="512064"/>
          </a:xfrm>
          <a:prstGeom prst="ellipse">
            <a:avLst/>
          </a:prstGeom>
          <a:solidFill>
            <a:srgbClr val="028090"/>
          </a:solidFill>
          <a:ln/>
        </p:spPr>
      </p:sp>
      <p:sp>
        <p:nvSpPr>
          <p:cNvPr id="10" name="Text 8"/>
          <p:cNvSpPr/>
          <p:nvPr/>
        </p:nvSpPr>
        <p:spPr>
          <a:xfrm>
            <a:off x="978408" y="4564761"/>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p:nvPr/>
        </p:nvSpPr>
        <p:spPr>
          <a:xfrm>
            <a:off x="1737360" y="4244721"/>
            <a:ext cx="3931920" cy="1152144"/>
          </a:xfrm>
          <a:prstGeom prst="rect">
            <a:avLst/>
          </a:prstGeom>
          <a:noFill/>
          <a:ln/>
        </p:spPr>
        <p:txBody>
          <a:bodyPr wrap="square" lIns="0" tIns="0" rIns="0" bIns="0" rtlCol="0" anchor="t"/>
          <a:lstStyle/>
          <a:p>
            <a:pPr indent="0" marL="0">
              <a:lnSpc>
                <a:spcPct val="118000"/>
              </a:lnSpc>
              <a:buNone/>
            </a:pPr>
            <a:r>
              <a:rPr lang="en-US" sz="1160" b="1" dirty="0">
                <a:solidFill>
                  <a:srgbClr val="028090"/>
                </a:solidFill>
                <a:latin typeface="Calibri" pitchFamily="34" charset="0"/>
                <a:ea typeface="Calibri" pitchFamily="34" charset="-122"/>
                <a:cs typeface="Calibri" pitchFamily="34" charset="-120"/>
              </a:rPr>
              <a:t>mandatory:true + publisher-returns  </a:t>
            </a:r>
            <a:pPr indent="0" marL="0">
              <a:lnSpc>
                <a:spcPct val="118000"/>
              </a:lnSpc>
              <a:buNone/>
            </a:pPr>
            <a:r>
              <a:rPr lang="en-US" sz="1160" dirty="0">
                <a:solidFill>
                  <a:srgbClr val="1B2440"/>
                </a:solidFill>
                <a:latin typeface="Calibri" pitchFamily="34" charset="0"/>
                <a:ea typeface="Calibri" pitchFamily="34" charset="-122"/>
                <a:cs typeface="Calibri" pitchFamily="34" charset="-120"/>
              </a:rPr>
              <a:t>— RabbitMQ varsayılan olarak 'fire and forget'tir; yönlendirilemeyen mesaj sessizce kaybolur. Bu ayarla mesaj bir 'return' olarak geri döner ve yakalanır. publisher-confirm-type:correlated ile her mesajın broker tarafından fiilen kabul edildiği asenkron doğrulanır.</a:t>
            </a:r>
            <a:endParaRPr lang="en-US" sz="1160" dirty="0"/>
          </a:p>
        </p:txBody>
      </p:sp>
      <p:sp>
        <p:nvSpPr>
          <p:cNvPr id="12" name="Shape 10"/>
          <p:cNvSpPr/>
          <p:nvPr/>
        </p:nvSpPr>
        <p:spPr>
          <a:xfrm>
            <a:off x="6263640" y="2331720"/>
            <a:ext cx="0" cy="3794760"/>
          </a:xfrm>
          <a:prstGeom prst="line">
            <a:avLst/>
          </a:prstGeom>
          <a:noFill/>
          <a:ln w="12700">
            <a:solidFill>
              <a:srgbClr val="D7DEEE"/>
            </a:solidFill>
            <a:prstDash val="solid"/>
          </a:ln>
        </p:spPr>
      </p:sp>
      <p:sp>
        <p:nvSpPr>
          <p:cNvPr id="13" name="Text 11"/>
          <p:cNvSpPr/>
          <p:nvPr/>
        </p:nvSpPr>
        <p:spPr>
          <a:xfrm>
            <a:off x="6537960" y="2331720"/>
            <a:ext cx="5120640" cy="292608"/>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Transactional Outbox — dual-write problemi</a:t>
            </a:r>
            <a:endParaRPr lang="en-US" sz="1400" dirty="0"/>
          </a:p>
        </p:txBody>
      </p:sp>
      <p:sp>
        <p:nvSpPr>
          <p:cNvPr id="14" name="Text 12"/>
          <p:cNvSpPr/>
          <p:nvPr/>
        </p:nvSpPr>
        <p:spPr>
          <a:xfrm>
            <a:off x="6537960" y="2633472"/>
            <a:ext cx="5120640" cy="365760"/>
          </a:xfrm>
          <a:prstGeom prst="rect">
            <a:avLst/>
          </a:prstGeom>
          <a:noFill/>
          <a:ln/>
        </p:spPr>
        <p:txBody>
          <a:bodyPr wrap="square" lIns="0" tIns="0" rIns="0" bIns="0" rtlCol="0" anchor="ctr"/>
          <a:lstStyle/>
          <a:p>
            <a:pPr indent="0" marL="0">
              <a:lnSpc>
                <a:spcPct val="115000"/>
              </a:lnSpc>
              <a:buNone/>
            </a:pPr>
            <a:r>
              <a:rPr lang="en-US" sz="1080" i="1" dirty="0">
                <a:solidFill>
                  <a:srgbClr val="5B6B8C"/>
                </a:solidFill>
                <a:latin typeface="Calibri" pitchFamily="34" charset="0"/>
                <a:ea typeface="Calibri" pitchFamily="34" charset="-122"/>
                <a:cs typeface="Calibri" pitchFamily="34" charset="-120"/>
              </a:rPr>
              <a:t>DB'ye yazıp broker'a yayın yapmak iki ayrı kaynak; aralarında atomik garanti yoktur. Çözüm:</a:t>
            </a:r>
            <a:endParaRPr lang="en-US" sz="1080" dirty="0"/>
          </a:p>
        </p:txBody>
      </p:sp>
      <p:sp>
        <p:nvSpPr>
          <p:cNvPr id="15" name="Shape 13"/>
          <p:cNvSpPr/>
          <p:nvPr/>
        </p:nvSpPr>
        <p:spPr>
          <a:xfrm>
            <a:off x="6537960" y="3063240"/>
            <a:ext cx="457200" cy="457200"/>
          </a:xfrm>
          <a:prstGeom prst="ellipse">
            <a:avLst/>
          </a:prstGeom>
          <a:solidFill>
            <a:srgbClr val="1E2761"/>
          </a:solidFill>
          <a:ln/>
        </p:spPr>
      </p:sp>
      <p:sp>
        <p:nvSpPr>
          <p:cNvPr id="16" name="Text 14"/>
          <p:cNvSpPr/>
          <p:nvPr/>
        </p:nvSpPr>
        <p:spPr>
          <a:xfrm>
            <a:off x="653796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7" name="Text 15"/>
          <p:cNvSpPr/>
          <p:nvPr/>
        </p:nvSpPr>
        <p:spPr>
          <a:xfrm>
            <a:off x="7196328" y="3035808"/>
            <a:ext cx="4462272" cy="292608"/>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Aynı transaction içinde yaz</a:t>
            </a:r>
            <a:endParaRPr lang="en-US" sz="1300" dirty="0"/>
          </a:p>
        </p:txBody>
      </p:sp>
      <p:sp>
        <p:nvSpPr>
          <p:cNvPr id="18" name="Text 16"/>
          <p:cNvSpPr/>
          <p:nvPr/>
        </p:nvSpPr>
        <p:spPr>
          <a:xfrm>
            <a:off x="7196328" y="3319272"/>
            <a:ext cx="4462272" cy="502920"/>
          </a:xfrm>
          <a:prstGeom prst="rect">
            <a:avLst/>
          </a:prstGeom>
          <a:noFill/>
          <a:ln/>
        </p:spPr>
        <p:txBody>
          <a:bodyPr wrap="square" lIns="0" tIns="0" rIns="0" bIns="0" rtlCol="0" anchor="t"/>
          <a:lstStyle/>
          <a:p>
            <a:pPr indent="0" marL="0">
              <a:lnSpc>
                <a:spcPct val="115000"/>
              </a:lnSpc>
              <a:buNone/>
            </a:pPr>
            <a:r>
              <a:rPr lang="en-US" sz="1080" dirty="0">
                <a:solidFill>
                  <a:srgbClr val="1B2440"/>
                </a:solidFill>
                <a:latin typeface="Calibri" pitchFamily="34" charset="0"/>
                <a:ea typeface="Calibri" pitchFamily="34" charset="-122"/>
                <a:cs typeface="Calibri" pitchFamily="34" charset="-120"/>
              </a:rPr>
              <a:t>İş verisi ve yayınlanacak olay, aynı DB transaction'ında outbox tablosuna yazılır — tek kaynak, atomik.</a:t>
            </a:r>
            <a:endParaRPr lang="en-US" sz="1080" dirty="0"/>
          </a:p>
        </p:txBody>
      </p:sp>
      <p:sp>
        <p:nvSpPr>
          <p:cNvPr id="19" name="Shape 17"/>
          <p:cNvSpPr/>
          <p:nvPr/>
        </p:nvSpPr>
        <p:spPr>
          <a:xfrm>
            <a:off x="6537960" y="3977640"/>
            <a:ext cx="457200" cy="457200"/>
          </a:xfrm>
          <a:prstGeom prst="ellipse">
            <a:avLst/>
          </a:prstGeom>
          <a:solidFill>
            <a:srgbClr val="1E2761"/>
          </a:solidFill>
          <a:ln/>
        </p:spPr>
      </p:sp>
      <p:sp>
        <p:nvSpPr>
          <p:cNvPr id="20" name="Text 18"/>
          <p:cNvSpPr/>
          <p:nvPr/>
        </p:nvSpPr>
        <p:spPr>
          <a:xfrm>
            <a:off x="6537960" y="3977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1" name="Text 19"/>
          <p:cNvSpPr/>
          <p:nvPr/>
        </p:nvSpPr>
        <p:spPr>
          <a:xfrm>
            <a:off x="7196328" y="3950208"/>
            <a:ext cx="4462272" cy="292608"/>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Relay / poller gönderir</a:t>
            </a:r>
            <a:endParaRPr lang="en-US" sz="1300" dirty="0"/>
          </a:p>
        </p:txBody>
      </p:sp>
      <p:sp>
        <p:nvSpPr>
          <p:cNvPr id="22" name="Text 20"/>
          <p:cNvSpPr/>
          <p:nvPr/>
        </p:nvSpPr>
        <p:spPr>
          <a:xfrm>
            <a:off x="7196328" y="4233672"/>
            <a:ext cx="4462272" cy="502920"/>
          </a:xfrm>
          <a:prstGeom prst="rect">
            <a:avLst/>
          </a:prstGeom>
          <a:noFill/>
          <a:ln/>
        </p:spPr>
        <p:txBody>
          <a:bodyPr wrap="square" lIns="0" tIns="0" rIns="0" bIns="0" rtlCol="0" anchor="t"/>
          <a:lstStyle/>
          <a:p>
            <a:pPr indent="0" marL="0">
              <a:lnSpc>
                <a:spcPct val="115000"/>
              </a:lnSpc>
              <a:buNone/>
            </a:pPr>
            <a:r>
              <a:rPr lang="en-US" sz="1080" dirty="0">
                <a:solidFill>
                  <a:srgbClr val="1B2440"/>
                </a:solidFill>
                <a:latin typeface="Calibri" pitchFamily="34" charset="0"/>
                <a:ea typeface="Calibri" pitchFamily="34" charset="-122"/>
                <a:cs typeface="Calibri" pitchFamily="34" charset="-120"/>
              </a:rPr>
              <a:t>Ayrı bir süreç (veya CDC — Debezium) outbox'ı okuyup mesajı Kafka/RabbitMQ'ya gönderir.</a:t>
            </a:r>
            <a:endParaRPr lang="en-US" sz="1080" dirty="0"/>
          </a:p>
        </p:txBody>
      </p:sp>
      <p:sp>
        <p:nvSpPr>
          <p:cNvPr id="23" name="Shape 21"/>
          <p:cNvSpPr/>
          <p:nvPr/>
        </p:nvSpPr>
        <p:spPr>
          <a:xfrm>
            <a:off x="6537960" y="4892040"/>
            <a:ext cx="457200" cy="457200"/>
          </a:xfrm>
          <a:prstGeom prst="ellipse">
            <a:avLst/>
          </a:prstGeom>
          <a:solidFill>
            <a:srgbClr val="1E2761"/>
          </a:solidFill>
          <a:ln/>
        </p:spPr>
      </p:sp>
      <p:sp>
        <p:nvSpPr>
          <p:cNvPr id="24" name="Text 22"/>
          <p:cNvSpPr/>
          <p:nvPr/>
        </p:nvSpPr>
        <p:spPr>
          <a:xfrm>
            <a:off x="6537960" y="4892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5" name="Text 23"/>
          <p:cNvSpPr/>
          <p:nvPr/>
        </p:nvSpPr>
        <p:spPr>
          <a:xfrm>
            <a:off x="7196328" y="4864608"/>
            <a:ext cx="4462272" cy="292608"/>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Tutarsızlık yapısal olarak biter</a:t>
            </a:r>
            <a:endParaRPr lang="en-US" sz="1300" dirty="0"/>
          </a:p>
        </p:txBody>
      </p:sp>
      <p:sp>
        <p:nvSpPr>
          <p:cNvPr id="26" name="Text 24"/>
          <p:cNvSpPr/>
          <p:nvPr/>
        </p:nvSpPr>
        <p:spPr>
          <a:xfrm>
            <a:off x="7196328" y="5148072"/>
            <a:ext cx="4462272" cy="502920"/>
          </a:xfrm>
          <a:prstGeom prst="rect">
            <a:avLst/>
          </a:prstGeom>
          <a:noFill/>
          <a:ln/>
        </p:spPr>
        <p:txBody>
          <a:bodyPr wrap="square" lIns="0" tIns="0" rIns="0" bIns="0" rtlCol="0" anchor="t"/>
          <a:lstStyle/>
          <a:p>
            <a:pPr indent="0" marL="0">
              <a:lnSpc>
                <a:spcPct val="115000"/>
              </a:lnSpc>
              <a:buNone/>
            </a:pPr>
            <a:r>
              <a:rPr lang="en-US" sz="1080" dirty="0">
                <a:solidFill>
                  <a:srgbClr val="1B2440"/>
                </a:solidFill>
                <a:latin typeface="Calibri" pitchFamily="34" charset="0"/>
                <a:ea typeface="Calibri" pitchFamily="34" charset="-122"/>
                <a:cs typeface="Calibri" pitchFamily="34" charset="-120"/>
              </a:rPr>
              <a:t>'Yazıldı ama gitmedi' imkânsız hâle gelir; worst-case 'iki kere gönderilir' (at-least-once) — bu da MESSAGE_ID idempotency ile karşılanır.</a:t>
            </a:r>
            <a:endParaRPr lang="en-US" sz="1080" dirty="0"/>
          </a:p>
        </p:txBody>
      </p:sp>
      <p:sp>
        <p:nvSpPr>
          <p:cNvPr id="27" name="Text 2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28" name="Text 26"/>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MIMARI KAVRAM</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Hexagonal Architecture (Ports &amp; Adapters)</a:t>
            </a:r>
            <a:endParaRPr lang="en-US" sz="2800" dirty="0"/>
          </a:p>
        </p:txBody>
      </p:sp>
      <p:sp>
        <p:nvSpPr>
          <p:cNvPr id="4" name="Shape 2"/>
          <p:cNvSpPr/>
          <p:nvPr/>
        </p:nvSpPr>
        <p:spPr>
          <a:xfrm>
            <a:off x="2697480" y="3474720"/>
            <a:ext cx="1554480" cy="1005840"/>
          </a:xfrm>
          <a:prstGeom prst="roundRect">
            <a:avLst>
              <a:gd name="adj" fmla="val 8182"/>
            </a:avLst>
          </a:prstGeom>
          <a:solidFill>
            <a:srgbClr val="1E2761"/>
          </a:solidFill>
          <a:ln/>
        </p:spPr>
      </p:sp>
      <p:sp>
        <p:nvSpPr>
          <p:cNvPr id="5" name="Text 3"/>
          <p:cNvSpPr/>
          <p:nvPr/>
        </p:nvSpPr>
        <p:spPr>
          <a:xfrm>
            <a:off x="2697480" y="3474720"/>
            <a:ext cx="1554480" cy="100584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Domain</a:t>
            </a:r>
            <a:endParaRPr lang="en-US" sz="1250" dirty="0"/>
          </a:p>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(iş mantığı)</a:t>
            </a:r>
            <a:endParaRPr lang="en-US" sz="1250" dirty="0"/>
          </a:p>
        </p:txBody>
      </p:sp>
      <p:sp>
        <p:nvSpPr>
          <p:cNvPr id="6" name="Shape 4"/>
          <p:cNvSpPr/>
          <p:nvPr/>
        </p:nvSpPr>
        <p:spPr>
          <a:xfrm>
            <a:off x="2560320" y="1783080"/>
            <a:ext cx="1828800" cy="640080"/>
          </a:xfrm>
          <a:prstGeom prst="roundRect">
            <a:avLst>
              <a:gd name="adj" fmla="val 11429"/>
            </a:avLst>
          </a:prstGeom>
          <a:solidFill>
            <a:srgbClr val="FFFFFF"/>
          </a:solidFill>
          <a:ln w="19050">
            <a:solidFill>
              <a:srgbClr val="02C39A"/>
            </a:solidFill>
            <a:prstDash val="solid"/>
          </a:ln>
        </p:spPr>
      </p:sp>
      <p:sp>
        <p:nvSpPr>
          <p:cNvPr id="7" name="Text 5"/>
          <p:cNvSpPr/>
          <p:nvPr/>
        </p:nvSpPr>
        <p:spPr>
          <a:xfrm>
            <a:off x="2615184" y="1783080"/>
            <a:ext cx="1719072" cy="640080"/>
          </a:xfrm>
          <a:prstGeom prst="rect">
            <a:avLst/>
          </a:prstGeom>
          <a:noFill/>
          <a:ln/>
        </p:spPr>
        <p:txBody>
          <a:bodyPr wrap="square" lIns="0" tIns="0" rIns="0" bIns="0"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ImapAdapter</a:t>
            </a:r>
            <a:endParaRPr lang="en-US" sz="1000" dirty="0"/>
          </a:p>
        </p:txBody>
      </p:sp>
      <p:sp>
        <p:nvSpPr>
          <p:cNvPr id="8" name="Shape 6"/>
          <p:cNvSpPr/>
          <p:nvPr/>
        </p:nvSpPr>
        <p:spPr>
          <a:xfrm>
            <a:off x="4572000" y="3657600"/>
            <a:ext cx="1828800" cy="640080"/>
          </a:xfrm>
          <a:prstGeom prst="roundRect">
            <a:avLst>
              <a:gd name="adj" fmla="val 11429"/>
            </a:avLst>
          </a:prstGeom>
          <a:solidFill>
            <a:srgbClr val="FFFFFF"/>
          </a:solidFill>
          <a:ln w="19050">
            <a:solidFill>
              <a:srgbClr val="02C39A"/>
            </a:solidFill>
            <a:prstDash val="solid"/>
          </a:ln>
        </p:spPr>
      </p:sp>
      <p:sp>
        <p:nvSpPr>
          <p:cNvPr id="9" name="Text 7"/>
          <p:cNvSpPr/>
          <p:nvPr/>
        </p:nvSpPr>
        <p:spPr>
          <a:xfrm>
            <a:off x="4626864" y="3657600"/>
            <a:ext cx="1719072" cy="640080"/>
          </a:xfrm>
          <a:prstGeom prst="rect">
            <a:avLst/>
          </a:prstGeom>
          <a:noFill/>
          <a:ln/>
        </p:spPr>
        <p:txBody>
          <a:bodyPr wrap="square" lIns="0" tIns="0" rIns="0" bIns="0"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SshjAdapter (SFTP)</a:t>
            </a:r>
            <a:endParaRPr lang="en-US" sz="1000" dirty="0"/>
          </a:p>
        </p:txBody>
      </p:sp>
      <p:sp>
        <p:nvSpPr>
          <p:cNvPr id="10" name="Shape 8"/>
          <p:cNvSpPr/>
          <p:nvPr/>
        </p:nvSpPr>
        <p:spPr>
          <a:xfrm>
            <a:off x="2560320" y="5257800"/>
            <a:ext cx="1828800" cy="640080"/>
          </a:xfrm>
          <a:prstGeom prst="roundRect">
            <a:avLst>
              <a:gd name="adj" fmla="val 11429"/>
            </a:avLst>
          </a:prstGeom>
          <a:solidFill>
            <a:srgbClr val="FFFFFF"/>
          </a:solidFill>
          <a:ln w="19050">
            <a:solidFill>
              <a:srgbClr val="02C39A"/>
            </a:solidFill>
            <a:prstDash val="solid"/>
          </a:ln>
        </p:spPr>
      </p:sp>
      <p:sp>
        <p:nvSpPr>
          <p:cNvPr id="11" name="Text 9"/>
          <p:cNvSpPr/>
          <p:nvPr/>
        </p:nvSpPr>
        <p:spPr>
          <a:xfrm>
            <a:off x="2615184" y="5257800"/>
            <a:ext cx="1719072" cy="640080"/>
          </a:xfrm>
          <a:prstGeom prst="rect">
            <a:avLst/>
          </a:prstGeom>
          <a:noFill/>
          <a:ln/>
        </p:spPr>
        <p:txBody>
          <a:bodyPr wrap="square" lIns="0" tIns="0" rIns="0" bIns="0"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KafkaEventPublisher</a:t>
            </a:r>
            <a:endParaRPr lang="en-US" sz="1000" dirty="0"/>
          </a:p>
        </p:txBody>
      </p:sp>
      <p:sp>
        <p:nvSpPr>
          <p:cNvPr id="12" name="Shape 10"/>
          <p:cNvSpPr/>
          <p:nvPr/>
        </p:nvSpPr>
        <p:spPr>
          <a:xfrm>
            <a:off x="548640" y="3657600"/>
            <a:ext cx="1828800" cy="640080"/>
          </a:xfrm>
          <a:prstGeom prst="roundRect">
            <a:avLst>
              <a:gd name="adj" fmla="val 11429"/>
            </a:avLst>
          </a:prstGeom>
          <a:solidFill>
            <a:srgbClr val="FFFFFF"/>
          </a:solidFill>
          <a:ln w="19050">
            <a:solidFill>
              <a:srgbClr val="02C39A"/>
            </a:solidFill>
            <a:prstDash val="solid"/>
          </a:ln>
        </p:spPr>
      </p:sp>
      <p:sp>
        <p:nvSpPr>
          <p:cNvPr id="13" name="Text 11"/>
          <p:cNvSpPr/>
          <p:nvPr/>
        </p:nvSpPr>
        <p:spPr>
          <a:xfrm>
            <a:off x="603504" y="3657600"/>
            <a:ext cx="1719072" cy="640080"/>
          </a:xfrm>
          <a:prstGeom prst="rect">
            <a:avLst/>
          </a:prstGeom>
          <a:noFill/>
          <a:ln/>
        </p:spPr>
        <p:txBody>
          <a:bodyPr wrap="square" lIns="0" tIns="0" rIns="0" bIns="0"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LocalAttachmentStore</a:t>
            </a:r>
            <a:endParaRPr lang="en-US" sz="1000" dirty="0"/>
          </a:p>
        </p:txBody>
      </p:sp>
      <p:sp>
        <p:nvSpPr>
          <p:cNvPr id="14" name="Shape 12"/>
          <p:cNvSpPr/>
          <p:nvPr/>
        </p:nvSpPr>
        <p:spPr>
          <a:xfrm>
            <a:off x="3474720" y="2423160"/>
            <a:ext cx="0" cy="1051560"/>
          </a:xfrm>
          <a:prstGeom prst="line">
            <a:avLst/>
          </a:prstGeom>
          <a:noFill/>
          <a:ln w="19050">
            <a:solidFill>
              <a:srgbClr val="9FB0D6"/>
            </a:solidFill>
            <a:prstDash val="dash"/>
          </a:ln>
        </p:spPr>
      </p:sp>
      <p:sp>
        <p:nvSpPr>
          <p:cNvPr id="15" name="Shape 13"/>
          <p:cNvSpPr/>
          <p:nvPr/>
        </p:nvSpPr>
        <p:spPr>
          <a:xfrm>
            <a:off x="3474720" y="4480560"/>
            <a:ext cx="0" cy="777240"/>
          </a:xfrm>
          <a:prstGeom prst="line">
            <a:avLst/>
          </a:prstGeom>
          <a:noFill/>
          <a:ln w="19050">
            <a:solidFill>
              <a:srgbClr val="9FB0D6"/>
            </a:solidFill>
            <a:prstDash val="dash"/>
          </a:ln>
        </p:spPr>
      </p:sp>
      <p:sp>
        <p:nvSpPr>
          <p:cNvPr id="16" name="Shape 14"/>
          <p:cNvSpPr/>
          <p:nvPr/>
        </p:nvSpPr>
        <p:spPr>
          <a:xfrm>
            <a:off x="2377440" y="3977640"/>
            <a:ext cx="320040" cy="0"/>
          </a:xfrm>
          <a:prstGeom prst="line">
            <a:avLst/>
          </a:prstGeom>
          <a:noFill/>
          <a:ln w="19050">
            <a:solidFill>
              <a:srgbClr val="9FB0D6"/>
            </a:solidFill>
            <a:prstDash val="dash"/>
          </a:ln>
        </p:spPr>
      </p:sp>
      <p:sp>
        <p:nvSpPr>
          <p:cNvPr id="17" name="Shape 15"/>
          <p:cNvSpPr/>
          <p:nvPr/>
        </p:nvSpPr>
        <p:spPr>
          <a:xfrm>
            <a:off x="4251960" y="3977640"/>
            <a:ext cx="320040" cy="0"/>
          </a:xfrm>
          <a:prstGeom prst="line">
            <a:avLst/>
          </a:prstGeom>
          <a:noFill/>
          <a:ln w="19050">
            <a:solidFill>
              <a:srgbClr val="9FB0D6"/>
            </a:solidFill>
            <a:prstDash val="dash"/>
          </a:ln>
        </p:spPr>
      </p:sp>
      <p:sp>
        <p:nvSpPr>
          <p:cNvPr id="18" name="Shape 16"/>
          <p:cNvSpPr/>
          <p:nvPr/>
        </p:nvSpPr>
        <p:spPr>
          <a:xfrm>
            <a:off x="2971800" y="2798064"/>
            <a:ext cx="1005840" cy="292608"/>
          </a:xfrm>
          <a:prstGeom prst="roundRect">
            <a:avLst>
              <a:gd name="adj" fmla="val 50000"/>
            </a:avLst>
          </a:prstGeom>
          <a:solidFill>
            <a:srgbClr val="9FB0D6"/>
          </a:solidFill>
          <a:ln/>
        </p:spPr>
      </p:sp>
      <p:sp>
        <p:nvSpPr>
          <p:cNvPr id="19" name="Text 17"/>
          <p:cNvSpPr/>
          <p:nvPr/>
        </p:nvSpPr>
        <p:spPr>
          <a:xfrm>
            <a:off x="2971800" y="2798064"/>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port</a:t>
            </a:r>
            <a:endParaRPr lang="en-US" sz="850" dirty="0"/>
          </a:p>
        </p:txBody>
      </p:sp>
      <p:sp>
        <p:nvSpPr>
          <p:cNvPr id="20" name="Shape 18"/>
          <p:cNvSpPr/>
          <p:nvPr/>
        </p:nvSpPr>
        <p:spPr>
          <a:xfrm>
            <a:off x="2971800" y="4709160"/>
            <a:ext cx="1005840" cy="292608"/>
          </a:xfrm>
          <a:prstGeom prst="roundRect">
            <a:avLst>
              <a:gd name="adj" fmla="val 50000"/>
            </a:avLst>
          </a:prstGeom>
          <a:solidFill>
            <a:srgbClr val="9FB0D6"/>
          </a:solidFill>
          <a:ln/>
        </p:spPr>
      </p:sp>
      <p:sp>
        <p:nvSpPr>
          <p:cNvPr id="21" name="Text 19"/>
          <p:cNvSpPr/>
          <p:nvPr/>
        </p:nvSpPr>
        <p:spPr>
          <a:xfrm>
            <a:off x="2971800" y="4709160"/>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port</a:t>
            </a:r>
            <a:endParaRPr lang="en-US" sz="850" dirty="0"/>
          </a:p>
        </p:txBody>
      </p:sp>
      <p:sp>
        <p:nvSpPr>
          <p:cNvPr id="22" name="Text 20"/>
          <p:cNvSpPr/>
          <p:nvPr/>
        </p:nvSpPr>
        <p:spPr>
          <a:xfrm>
            <a:off x="548640" y="6172200"/>
            <a:ext cx="6126480" cy="411480"/>
          </a:xfrm>
          <a:prstGeom prst="rect">
            <a:avLst/>
          </a:prstGeom>
          <a:noFill/>
          <a:ln/>
        </p:spPr>
        <p:txBody>
          <a:bodyPr wrap="square" lIns="0" tIns="0" rIns="0" bIns="0" rtlCol="0" anchor="ctr"/>
          <a:lstStyle/>
          <a:p>
            <a:pPr algn="ctr" indent="0" marL="0">
              <a:buNone/>
            </a:pPr>
            <a:r>
              <a:rPr lang="en-US" sz="1000" i="1" dirty="0">
                <a:solidFill>
                  <a:srgbClr val="5B6B8C"/>
                </a:solidFill>
                <a:latin typeface="Calibri" pitchFamily="34" charset="0"/>
                <a:ea typeface="Calibri" pitchFamily="34" charset="-122"/>
                <a:cs typeface="Calibri" pitchFamily="34" charset="-120"/>
              </a:rPr>
              <a:t>Bağımlılık her zaman içe doğru: adapter → port → domain. Domain hiçbir adapter'ı tanımaz.</a:t>
            </a:r>
            <a:endParaRPr lang="en-US" sz="1000" dirty="0"/>
          </a:p>
        </p:txBody>
      </p:sp>
      <p:sp>
        <p:nvSpPr>
          <p:cNvPr id="23" name="Shape 21"/>
          <p:cNvSpPr/>
          <p:nvPr/>
        </p:nvSpPr>
        <p:spPr>
          <a:xfrm>
            <a:off x="6903720" y="1554480"/>
            <a:ext cx="0" cy="4709160"/>
          </a:xfrm>
          <a:prstGeom prst="line">
            <a:avLst/>
          </a:prstGeom>
          <a:noFill/>
          <a:ln w="12700">
            <a:solidFill>
              <a:srgbClr val="D7DEEE"/>
            </a:solidFill>
            <a:prstDash val="solid"/>
          </a:ln>
        </p:spPr>
      </p:sp>
      <p:sp>
        <p:nvSpPr>
          <p:cNvPr id="24" name="Text 22"/>
          <p:cNvSpPr/>
          <p:nvPr/>
        </p:nvSpPr>
        <p:spPr>
          <a:xfrm>
            <a:off x="7178040" y="1554480"/>
            <a:ext cx="4480560" cy="1371600"/>
          </a:xfrm>
          <a:prstGeom prst="rect">
            <a:avLst/>
          </a:prstGeom>
          <a:noFill/>
          <a:ln/>
        </p:spPr>
        <p:txBody>
          <a:bodyPr wrap="square" lIns="0" tIns="0" rIns="0" bIns="0" rtlCol="0" anchor="ctr"/>
          <a:lstStyle/>
          <a:p>
            <a:pPr indent="0" marL="0">
              <a:lnSpc>
                <a:spcPct val="122000"/>
              </a:lnSpc>
              <a:buNone/>
            </a:pPr>
            <a:r>
              <a:rPr lang="en-US" sz="1160" dirty="0">
                <a:solidFill>
                  <a:srgbClr val="1B2440"/>
                </a:solidFill>
                <a:latin typeface="Calibri" pitchFamily="34" charset="0"/>
                <a:ea typeface="Calibri" pitchFamily="34" charset="-122"/>
                <a:cs typeface="Calibri" pitchFamily="34" charset="-120"/>
              </a:rPr>
              <a:t>Alistair Cockburn, 2005. Klasik katmanlı mimarinin ("Controller → Service → Repository") aksine, iş mantığı merkezde durur ve dış dünyayı bilmez. Domain, ihtiyaç duyduklarını port (arayüz) olarak tanımlar; gerçek implementasyonlar (adapter) dışarıda yaşar ve konfigürasyonla takılır.</a:t>
            </a:r>
            <a:endParaRPr lang="en-US" sz="1160" dirty="0"/>
          </a:p>
        </p:txBody>
      </p:sp>
      <p:sp>
        <p:nvSpPr>
          <p:cNvPr id="25" name="Shape 23"/>
          <p:cNvSpPr/>
          <p:nvPr/>
        </p:nvSpPr>
        <p:spPr>
          <a:xfrm>
            <a:off x="7187184" y="3314700"/>
            <a:ext cx="237744" cy="237744"/>
          </a:xfrm>
          <a:prstGeom prst="ellipse">
            <a:avLst/>
          </a:prstGeom>
          <a:solidFill>
            <a:srgbClr val="02C39A"/>
          </a:solidFill>
          <a:ln/>
        </p:spPr>
      </p:sp>
      <p:sp>
        <p:nvSpPr>
          <p:cNvPr id="26" name="Text 24"/>
          <p:cNvSpPr/>
          <p:nvPr/>
        </p:nvSpPr>
        <p:spPr>
          <a:xfrm>
            <a:off x="7187184" y="331470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p:nvPr/>
        </p:nvSpPr>
        <p:spPr>
          <a:xfrm>
            <a:off x="7562088" y="3063240"/>
            <a:ext cx="4096512" cy="777240"/>
          </a:xfrm>
          <a:prstGeom prst="rect">
            <a:avLst/>
          </a:prstGeom>
          <a:noFill/>
          <a:ln/>
        </p:spPr>
        <p:txBody>
          <a:bodyPr wrap="square" lIns="0" tIns="0" rIns="0" bIns="0" rtlCol="0" anchor="t"/>
          <a:lstStyle/>
          <a:p>
            <a:pPr indent="0" marL="0">
              <a:lnSpc>
                <a:spcPct val="112000"/>
              </a:lnSpc>
              <a:buNone/>
            </a:pPr>
            <a:r>
              <a:rPr lang="en-US" sz="1100" b="1" dirty="0">
                <a:solidFill>
                  <a:srgbClr val="1E2761"/>
                </a:solidFill>
                <a:latin typeface="Calibri" pitchFamily="34" charset="0"/>
                <a:ea typeface="Calibri" pitchFamily="34" charset="-122"/>
                <a:cs typeface="Calibri" pitchFamily="34" charset="-120"/>
              </a:rPr>
              <a:t>Test edilebilirlik  —  </a:t>
            </a:r>
            <a:pPr indent="0" marL="0">
              <a:lnSpc>
                <a:spcPct val="112000"/>
              </a:lnSpc>
              <a:buNone/>
            </a:pPr>
            <a:r>
              <a:rPr lang="en-US" sz="1100" dirty="0">
                <a:solidFill>
                  <a:srgbClr val="1B2440"/>
                </a:solidFill>
                <a:latin typeface="Calibri" pitchFamily="34" charset="0"/>
                <a:ea typeface="Calibri" pitchFamily="34" charset="-122"/>
                <a:cs typeface="Calibri" pitchFamily="34" charset="-120"/>
              </a:rPr>
              <a:t>Domain, gerçek IMAP/Kafka/Oracle olmadan sahte adapter'larla unit test edilebilir.</a:t>
            </a:r>
            <a:endParaRPr lang="en-US" sz="1100" dirty="0"/>
          </a:p>
        </p:txBody>
      </p:sp>
      <p:sp>
        <p:nvSpPr>
          <p:cNvPr id="28" name="Shape 26"/>
          <p:cNvSpPr/>
          <p:nvPr/>
        </p:nvSpPr>
        <p:spPr>
          <a:xfrm>
            <a:off x="7187184" y="4091940"/>
            <a:ext cx="237744" cy="237744"/>
          </a:xfrm>
          <a:prstGeom prst="ellipse">
            <a:avLst/>
          </a:prstGeom>
          <a:solidFill>
            <a:srgbClr val="02C39A"/>
          </a:solidFill>
          <a:ln/>
        </p:spPr>
      </p:sp>
      <p:sp>
        <p:nvSpPr>
          <p:cNvPr id="29" name="Text 27"/>
          <p:cNvSpPr/>
          <p:nvPr/>
        </p:nvSpPr>
        <p:spPr>
          <a:xfrm>
            <a:off x="7187184" y="409194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7562088" y="3840480"/>
            <a:ext cx="4096512" cy="777240"/>
          </a:xfrm>
          <a:prstGeom prst="rect">
            <a:avLst/>
          </a:prstGeom>
          <a:noFill/>
          <a:ln/>
        </p:spPr>
        <p:txBody>
          <a:bodyPr wrap="square" lIns="0" tIns="0" rIns="0" bIns="0" rtlCol="0" anchor="t"/>
          <a:lstStyle/>
          <a:p>
            <a:pPr indent="0" marL="0">
              <a:lnSpc>
                <a:spcPct val="112000"/>
              </a:lnSpc>
              <a:buNone/>
            </a:pPr>
            <a:r>
              <a:rPr lang="en-US" sz="1100" b="1" dirty="0">
                <a:solidFill>
                  <a:srgbClr val="1E2761"/>
                </a:solidFill>
                <a:latin typeface="Calibri" pitchFamily="34" charset="0"/>
                <a:ea typeface="Calibri" pitchFamily="34" charset="-122"/>
                <a:cs typeface="Calibri" pitchFamily="34" charset="-120"/>
              </a:rPr>
              <a:t>Değişime dayanıklılık  —  </a:t>
            </a:r>
            <a:pPr indent="0" marL="0">
              <a:lnSpc>
                <a:spcPct val="112000"/>
              </a:lnSpc>
              <a:buNone/>
            </a:pPr>
            <a:r>
              <a:rPr lang="en-US" sz="1100" dirty="0">
                <a:solidFill>
                  <a:srgbClr val="1B2440"/>
                </a:solidFill>
                <a:latin typeface="Calibri" pitchFamily="34" charset="0"/>
                <a:ea typeface="Calibri" pitchFamily="34" charset="-122"/>
                <a:cs typeface="Calibri" pitchFamily="34" charset="-120"/>
              </a:rPr>
              <a:t>Microsoft EWS'i kullanımdan kaldırıyor, Graph'a geçiş öneriyor — yeni bir GraphAdapter yazmak yeterli, domain kodu değişmez.</a:t>
            </a:r>
            <a:endParaRPr lang="en-US" sz="1100" dirty="0"/>
          </a:p>
        </p:txBody>
      </p:sp>
      <p:sp>
        <p:nvSpPr>
          <p:cNvPr id="31" name="Shape 29"/>
          <p:cNvSpPr/>
          <p:nvPr/>
        </p:nvSpPr>
        <p:spPr>
          <a:xfrm>
            <a:off x="7187184" y="4869180"/>
            <a:ext cx="237744" cy="237744"/>
          </a:xfrm>
          <a:prstGeom prst="ellipse">
            <a:avLst/>
          </a:prstGeom>
          <a:solidFill>
            <a:srgbClr val="02C39A"/>
          </a:solidFill>
          <a:ln/>
        </p:spPr>
      </p:sp>
      <p:sp>
        <p:nvSpPr>
          <p:cNvPr id="32" name="Text 30"/>
          <p:cNvSpPr/>
          <p:nvPr/>
        </p:nvSpPr>
        <p:spPr>
          <a:xfrm>
            <a:off x="7187184" y="486918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3" name="Text 31"/>
          <p:cNvSpPr/>
          <p:nvPr/>
        </p:nvSpPr>
        <p:spPr>
          <a:xfrm>
            <a:off x="7562088" y="4617720"/>
            <a:ext cx="4096512" cy="777240"/>
          </a:xfrm>
          <a:prstGeom prst="rect">
            <a:avLst/>
          </a:prstGeom>
          <a:noFill/>
          <a:ln/>
        </p:spPr>
        <p:txBody>
          <a:bodyPr wrap="square" lIns="0" tIns="0" rIns="0" bIns="0" rtlCol="0" anchor="t"/>
          <a:lstStyle/>
          <a:p>
            <a:pPr indent="0" marL="0">
              <a:lnSpc>
                <a:spcPct val="112000"/>
              </a:lnSpc>
              <a:buNone/>
            </a:pPr>
            <a:r>
              <a:rPr lang="en-US" sz="1100" b="1" dirty="0">
                <a:solidFill>
                  <a:srgbClr val="1E2761"/>
                </a:solidFill>
                <a:latin typeface="Calibri" pitchFamily="34" charset="0"/>
                <a:ea typeface="Calibri" pitchFamily="34" charset="-122"/>
                <a:cs typeface="Calibri" pitchFamily="34" charset="-120"/>
              </a:rPr>
              <a:t>Boot 4 starter'larıyla örtüşür  —  </a:t>
            </a:r>
            <a:pPr indent="0" marL="0">
              <a:lnSpc>
                <a:spcPct val="112000"/>
              </a:lnSpc>
              <a:buNone/>
            </a:pPr>
            <a:r>
              <a:rPr lang="en-US" sz="1100" dirty="0">
                <a:solidFill>
                  <a:srgbClr val="1B2440"/>
                </a:solidFill>
                <a:latin typeface="Calibri" pitchFamily="34" charset="0"/>
                <a:ea typeface="Calibri" pitchFamily="34" charset="-122"/>
                <a:cs typeface="Calibri" pitchFamily="34" charset="-120"/>
              </a:rPr>
              <a:t>Her adapter sadece kendi teknolojisinin starter'ını çeker; domain hiçbir altyapı bağımlılığı taşımaz.</a:t>
            </a:r>
            <a:endParaRPr lang="en-US" sz="1100" dirty="0"/>
          </a:p>
        </p:txBody>
      </p:sp>
      <p:sp>
        <p:nvSpPr>
          <p:cNvPr id="34" name="Text 3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35" name="Text 33"/>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ÇEVRESEL KAZANIMLAR · SPRING MODÜLLERI</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Somut Desenler, Somut Sınıflar</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023360"/>
        </p:xfrm>
        <a:graphic>
          <a:graphicData uri="http://schemas.openxmlformats.org/drawingml/2006/table">
            <a:tbl>
              <a:tblPr/>
              <a:tblGrid>
                <a:gridCol w="2331720"/>
                <a:gridCol w="3063240"/>
                <a:gridCol w="566928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Desen</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Nerede</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Niye</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solidFill>
                      <a:srgbClr val="1E2761"/>
                    </a:solidFill>
                  </a:tcPr>
                </a:tc>
              </a:tr>
              <a:tr h="713232">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Strategy</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000" dirty="0">
                          <a:solidFill>
                            <a:srgbClr val="1B2440"/>
                          </a:solidFill>
                          <a:latin typeface="Courier New" pitchFamily="34" charset="0"/>
                          <a:ea typeface="Courier New" pitchFamily="34" charset="-122"/>
                          <a:cs typeface="Courier New" pitchFamily="34" charset="-120"/>
                        </a:rPr>
                        <a:t>MailClientPort, FileTransferPort</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dirty="0">
                          <a:solidFill>
                            <a:srgbClr val="1B2440"/>
                          </a:solidFill>
                          <a:latin typeface="Calibri" pitchFamily="34" charset="0"/>
                          <a:ea typeface="Calibri" pitchFamily="34" charset="-122"/>
                          <a:cs typeface="Calibri" pitchFamily="34" charset="-120"/>
                        </a:rPr>
                        <a:t>Sağlayıcı değişimi = yeni sınıf, switch değil. Legacy'de if/else kod tabanına dağılmıştı.</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713232">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Factory</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000" dirty="0">
                          <a:solidFill>
                            <a:srgbClr val="1B2440"/>
                          </a:solidFill>
                          <a:latin typeface="Courier New" pitchFamily="34" charset="0"/>
                          <a:ea typeface="Courier New" pitchFamily="34" charset="-122"/>
                          <a:cs typeface="Courier New" pitchFamily="34" charset="-120"/>
                        </a:rPr>
                        <a:t>MailClientResolver</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dirty="0">
                          <a:solidFill>
                            <a:srgbClr val="1B2440"/>
                          </a:solidFill>
                          <a:latin typeface="Calibri" pitchFamily="34" charset="0"/>
                          <a:ea typeface="Calibri" pitchFamily="34" charset="-122"/>
                          <a:cs typeface="Calibri" pitchFamily="34" charset="-120"/>
                        </a:rPr>
                        <a:t>'Hangisi aktif' kararını tek yere toplar; iş mantığı bu bilgiyle hiç uğraşmaz.</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713232">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Chain of Responsibility</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000" dirty="0">
                          <a:solidFill>
                            <a:srgbClr val="1B2440"/>
                          </a:solidFill>
                          <a:latin typeface="Courier New" pitchFamily="34" charset="0"/>
                          <a:ea typeface="Courier New" pitchFamily="34" charset="-122"/>
                          <a:cs typeface="Courier New" pitchFamily="34" charset="-120"/>
                        </a:rPr>
                        <a:t>AttachmentRuleChain</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dirty="0">
                          <a:solidFill>
                            <a:srgbClr val="1B2440"/>
                          </a:solidFill>
                          <a:latin typeface="Calibri" pitchFamily="34" charset="0"/>
                          <a:ea typeface="Calibri" pitchFamily="34" charset="-122"/>
                          <a:cs typeface="Calibri" pitchFamily="34" charset="-120"/>
                        </a:rPr>
                        <a:t>İç içe if/else doğrulama yerine, her biri bağımsız test edilen/eklenen kurallar.</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713232">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Composite</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000" dirty="0">
                          <a:solidFill>
                            <a:srgbClr val="1B2440"/>
                          </a:solidFill>
                          <a:latin typeface="Courier New" pitchFamily="34" charset="0"/>
                          <a:ea typeface="Courier New" pitchFamily="34" charset="-122"/>
                          <a:cs typeface="Courier New" pitchFamily="34" charset="-120"/>
                        </a:rPr>
                        <a:t>RoutingEventPublisher</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dirty="0">
                          <a:solidFill>
                            <a:srgbClr val="1B2440"/>
                          </a:solidFill>
                          <a:latin typeface="Calibri" pitchFamily="34" charset="0"/>
                          <a:ea typeface="Calibri" pitchFamily="34" charset="-122"/>
                          <a:cs typeface="Calibri" pitchFamily="34" charset="-120"/>
                        </a:rPr>
                        <a:t>Üçüncü bir hedef (örn. webhook) eklemek = composite'e üye eklemek, mevcut kod değişmez.</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713232">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AOP</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000" dirty="0">
                          <a:solidFill>
                            <a:srgbClr val="1B2440"/>
                          </a:solidFill>
                          <a:latin typeface="Courier New" pitchFamily="34" charset="0"/>
                          <a:ea typeface="Courier New" pitchFamily="34" charset="-122"/>
                          <a:cs typeface="Courier New" pitchFamily="34" charset="-120"/>
                        </a:rPr>
                        <a:t>LoggingAspect, AuditAspect</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dirty="0">
                          <a:solidFill>
                            <a:srgbClr val="1B2440"/>
                          </a:solidFill>
                          <a:latin typeface="Calibri" pitchFamily="34" charset="0"/>
                          <a:ea typeface="Calibri" pitchFamily="34" charset="-122"/>
                          <a:cs typeface="Calibri" pitchFamily="34" charset="-120"/>
                        </a:rPr>
                        <a:t>Loglama ve denetim iş kodundan ayrık — bankacılıkta 'kim ne zaman ne yaptı' izi düzenleyici gerekliliktir.</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bl>
          </a:graphicData>
        </a:graphic>
      </p:graphicFrame>
      <p:sp>
        <p:nvSpPr>
          <p:cNvPr id="5" name="Text 2"/>
          <p:cNvSpPr/>
          <p:nvPr/>
        </p:nvSpPr>
        <p:spPr>
          <a:xfrm>
            <a:off x="548640" y="5715000"/>
            <a:ext cx="11064240" cy="411480"/>
          </a:xfrm>
          <a:prstGeom prst="rect">
            <a:avLst/>
          </a:prstGeom>
          <a:noFill/>
          <a:ln/>
        </p:spPr>
        <p:txBody>
          <a:bodyPr wrap="square" lIns="0" tIns="0" rIns="0" bIns="0" rtlCol="0" anchor="ctr"/>
          <a:lstStyle/>
          <a:p>
            <a:pPr indent="0" marL="0">
              <a:buNone/>
            </a:pPr>
            <a:r>
              <a:rPr lang="en-US" sz="1100" i="1" dirty="0">
                <a:solidFill>
                  <a:srgbClr val="5B6B8C"/>
                </a:solidFill>
                <a:latin typeface="Calibri" pitchFamily="34" charset="0"/>
                <a:ea typeface="Calibri" pitchFamily="34" charset="-122"/>
                <a:cs typeface="Calibri" pitchFamily="34" charset="-120"/>
              </a:rPr>
              <a:t>Bu desenler önceki sayfadaki hexagonal mimarinin somut örnekleri — her biri bir legacy bakım yüküne 1:1 cevap.</a:t>
            </a:r>
            <a:endParaRPr lang="en-US" sz="1100" dirty="0"/>
          </a:p>
        </p:txBody>
      </p:sp>
      <p:sp>
        <p:nvSpPr>
          <p:cNvPr id="6" name="Text 3"/>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7" name="Text 4"/>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SOMUT KAZANIM ÖZETI</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POC'ta legacy ile karşılaştırma</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64240" cy="4160520"/>
        </p:xfrm>
        <a:graphic>
          <a:graphicData uri="http://schemas.openxmlformats.org/drawingml/2006/table">
            <a:tbl>
              <a:tblPr/>
              <a:tblGrid>
                <a:gridCol w="5120640"/>
                <a:gridCol w="594360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Legacy (.NET 4.5.2)</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dbs-platform (Java 25 / Boot 4)</a:t>
                      </a:r>
                      <a:endParaRPr lang="en-US" sz="12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solidFill>
                      <a:srgbClr val="1E2761"/>
                    </a:solidFill>
                  </a:tcPr>
                </a:tc>
              </a:tr>
              <a:tr h="530352">
                <a:tc>
                  <a:txBody>
                    <a:bodyPr/>
                    <a:lstStyle/>
                    <a:p>
                      <a:pPr indent="0" marL="0">
                        <a:buNone/>
                      </a:pPr>
                      <a:r>
                        <a:rPr lang="en-US" sz="1100" dirty="0">
                          <a:solidFill>
                            <a:srgbClr val="B85042"/>
                          </a:solidFill>
                          <a:latin typeface="Calibri" pitchFamily="34" charset="0"/>
                          <a:ea typeface="Calibri" pitchFamily="34" charset="-122"/>
                          <a:cs typeface="Calibri" pitchFamily="34" charset="-120"/>
                        </a:rPr>
                        <a:t>Mail hemen siliniyor</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Başarılı işlemden sonra DBS-Archive'a taşınıyor</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530352">
                <a:tc>
                  <a:txBody>
                    <a:bodyPr/>
                    <a:lstStyle/>
                    <a:p>
                      <a:pPr indent="0" marL="0">
                        <a:buNone/>
                      </a:pPr>
                      <a:r>
                        <a:rPr lang="en-US" sz="1100" dirty="0">
                          <a:solidFill>
                            <a:srgbClr val="B85042"/>
                          </a:solidFill>
                          <a:latin typeface="Calibri" pitchFamily="34" charset="0"/>
                          <a:ea typeface="Calibri" pitchFamily="34" charset="-122"/>
                          <a:cs typeface="Calibri" pitchFamily="34" charset="-120"/>
                        </a:rPr>
                        <a:t>İdempotency yok</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MESSAGE_ID unique index (DB seviyesinde, uygulama seviyesinde değil)</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530352">
                <a:tc>
                  <a:txBody>
                    <a:bodyPr/>
                    <a:lstStyle/>
                    <a:p>
                      <a:pPr indent="0" marL="0">
                        <a:buNone/>
                      </a:pPr>
                      <a:r>
                        <a:rPr lang="en-US" sz="1100" dirty="0">
                          <a:solidFill>
                            <a:srgbClr val="B85042"/>
                          </a:solidFill>
                          <a:latin typeface="Calibri" pitchFamily="34" charset="0"/>
                          <a:ea typeface="Calibri" pitchFamily="34" charset="-122"/>
                          <a:cs typeface="Calibri" pitchFamily="34" charset="-120"/>
                        </a:rPr>
                        <a:t>Tek hatada döngü duruyor</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Her mail izole; sealed interface ile tip güvenli sonuç</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530352">
                <a:tc>
                  <a:txBody>
                    <a:bodyPr/>
                    <a:lstStyle/>
                    <a:p>
                      <a:pPr indent="0" marL="0">
                        <a:buNone/>
                      </a:pPr>
                      <a:r>
                        <a:rPr lang="en-US" sz="1100" dirty="0">
                          <a:solidFill>
                            <a:srgbClr val="B85042"/>
                          </a:solidFill>
                          <a:latin typeface="Calibri" pitchFamily="34" charset="0"/>
                          <a:ea typeface="Calibri" pitchFamily="34" charset="-122"/>
                          <a:cs typeface="Calibri" pitchFamily="34" charset="-120"/>
                        </a:rPr>
                        <a:t>Retry yok</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@Retryable — Spring Framework 7 çekirdek, ekstra bağımlılık yok</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530352">
                <a:tc>
                  <a:txBody>
                    <a:bodyPr/>
                    <a:lstStyle/>
                    <a:p>
                      <a:pPr indent="0" marL="0">
                        <a:buNone/>
                      </a:pPr>
                      <a:r>
                        <a:rPr lang="en-US" sz="1100" dirty="0">
                          <a:solidFill>
                            <a:srgbClr val="B85042"/>
                          </a:solidFill>
                          <a:latin typeface="Calibri" pitchFamily="34" charset="0"/>
                          <a:ea typeface="Calibri" pitchFamily="34" charset="-122"/>
                          <a:cs typeface="Calibri" pitchFamily="34" charset="-120"/>
                        </a:rPr>
                        <a:t>Şifreler config dosyasında (düz metin)</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Ortam değişkeni / Vault</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530352">
                <a:tc>
                  <a:txBody>
                    <a:bodyPr/>
                    <a:lstStyle/>
                    <a:p>
                      <a:pPr indent="0" marL="0">
                        <a:buNone/>
                      </a:pPr>
                      <a:r>
                        <a:rPr lang="en-US" sz="1100" dirty="0">
                          <a:solidFill>
                            <a:srgbClr val="B85042"/>
                          </a:solidFill>
                          <a:latin typeface="Calibri" pitchFamily="34" charset="0"/>
                          <a:ea typeface="Calibri" pitchFamily="34" charset="-122"/>
                          <a:cs typeface="Calibri" pitchFamily="34" charset="-120"/>
                        </a:rPr>
                        <a:t>Sadece SFTP'ye yazıyor</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Ayrıca Kafka event yayınlıyor (dbs.mail.received.v1)</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r h="530352">
                <a:tc>
                  <a:txBody>
                    <a:bodyPr/>
                    <a:lstStyle/>
                    <a:p>
                      <a:pPr indent="0" marL="0">
                        <a:buNone/>
                      </a:pPr>
                      <a:r>
                        <a:rPr lang="en-US" sz="1100" dirty="0">
                          <a:solidFill>
                            <a:srgbClr val="B85042"/>
                          </a:solidFill>
                          <a:latin typeface="Calibri" pitchFamily="34" charset="0"/>
                          <a:ea typeface="Calibri" pitchFamily="34" charset="-122"/>
                          <a:cs typeface="Calibri" pitchFamily="34" charset="-120"/>
                        </a:rPr>
                        <a:t>Operasyon RDP ile müdahale ediyor</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c>
                  <a:txBody>
                    <a:bodyPr/>
                    <a:lstStyle/>
                    <a:p>
                      <a:pPr indent="0" marL="0">
                        <a:buNone/>
                      </a:pPr>
                      <a:r>
                        <a:rPr lang="en-US" sz="1100" b="1" dirty="0">
                          <a:solidFill>
                            <a:srgbClr val="1B2440"/>
                          </a:solidFill>
                          <a:latin typeface="Calibri" pitchFamily="34" charset="0"/>
                          <a:ea typeface="Calibri" pitchFamily="34" charset="-122"/>
                          <a:cs typeface="Calibri" pitchFamily="34" charset="-120"/>
                        </a:rPr>
                        <a:t>REST ile manuel tetikleme + /actuator/health</a:t>
                      </a:r>
                      <a:endParaRPr lang="en-US" sz="1100" dirty="0">
                        <a:latin typeface="Calibri" charset="0"/>
                        <a:ea typeface="Calibri" charset="0"/>
                        <a:cs typeface="Calibri" charset="0"/>
                      </a:endParaRPr>
                    </a:p>
                  </a:txBody>
                  <a:tcPr marL="91440" marR="91440" marT="45720" marB="45720" anchor="ctr">
                    <a:lnL w="12700" cap="flat" cmpd="sng" algn="ctr">
                      <a:solidFill>
                        <a:srgbClr val="E1E7F3"/>
                      </a:solidFill>
                      <a:prstDash val="solid"/>
                      <a:round/>
                      <a:headEnd type="none" w="med" len="med"/>
                      <a:tailEnd type="none" w="med" len="med"/>
                    </a:lnL>
                    <a:lnR w="12700" cap="flat" cmpd="sng" algn="ctr">
                      <a:solidFill>
                        <a:srgbClr val="E1E7F3"/>
                      </a:solidFill>
                      <a:prstDash val="solid"/>
                      <a:round/>
                      <a:headEnd type="none" w="med" len="med"/>
                      <a:tailEnd type="none" w="med" len="med"/>
                    </a:lnR>
                    <a:lnT w="12700" cap="flat" cmpd="sng" algn="ctr">
                      <a:solidFill>
                        <a:srgbClr val="E1E7F3"/>
                      </a:solidFill>
                      <a:prstDash val="solid"/>
                      <a:round/>
                      <a:headEnd type="none" w="med" len="med"/>
                      <a:tailEnd type="none" w="med" len="med"/>
                    </a:lnT>
                    <a:lnB w="12700" cap="flat" cmpd="sng" algn="ctr">
                      <a:solidFill>
                        <a:srgbClr val="E1E7F3"/>
                      </a:solidFill>
                      <a:prstDash val="solid"/>
                      <a:round/>
                      <a:headEnd type="none" w="med" len="med"/>
                      <a:tailEnd type="none" w="med" len="med"/>
                    </a:lnB>
                  </a:tcPr>
                </a:tc>
              </a:tr>
            </a:tbl>
          </a:graphicData>
        </a:graphic>
      </p:graphicFrame>
      <p:sp>
        <p:nvSpPr>
          <p:cNvPr id="5" name="Text 2"/>
          <p:cNvSpPr/>
          <p:nvPr/>
        </p:nvSpPr>
        <p:spPr>
          <a:xfrm>
            <a:off x="548640" y="5852160"/>
            <a:ext cx="11064240" cy="502920"/>
          </a:xfrm>
          <a:prstGeom prst="rect">
            <a:avLst/>
          </a:prstGeom>
          <a:noFill/>
          <a:ln/>
        </p:spPr>
        <p:txBody>
          <a:bodyPr wrap="square" lIns="0" tIns="0" rIns="0" bIns="0" rtlCol="0" anchor="ctr"/>
          <a:lstStyle/>
          <a:p>
            <a:pPr indent="0" marL="0">
              <a:lnSpc>
                <a:spcPct val="115000"/>
              </a:lnSpc>
              <a:buNone/>
            </a:pPr>
            <a:r>
              <a:rPr lang="en-US" sz="1030" i="1" dirty="0">
                <a:solidFill>
                  <a:srgbClr val="5B6B8C"/>
                </a:solidFill>
                <a:latin typeface="Calibri" pitchFamily="34" charset="0"/>
                <a:ea typeface="Calibri" pitchFamily="34" charset="-122"/>
                <a:cs typeface="Calibri" pitchFamily="34" charset="-120"/>
              </a:rPr>
              <a:t>İdempotency neden DB seviyesinde: sanal thread'lerle yüksek eşzamanlılıkta "önce var mı diye sorgula, yoksa ekle" mantığı bir race condition penceresi açar. Unique index bu yarışı veritabanında kapatır.</a:t>
            </a:r>
            <a:endParaRPr lang="en-US" sz="1030" dirty="0"/>
          </a:p>
        </p:txBody>
      </p:sp>
      <p:sp>
        <p:nvSpPr>
          <p:cNvPr id="6" name="Text 3"/>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7" name="Text 4"/>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41A46"/>
          </a:solidFill>
          <a:ln/>
        </p:spPr>
      </p:sp>
      <p:sp>
        <p:nvSpPr>
          <p:cNvPr id="3" name="Shape 1"/>
          <p:cNvSpPr/>
          <p:nvPr/>
        </p:nvSpPr>
        <p:spPr>
          <a:xfrm>
            <a:off x="9601200" y="-1828800"/>
            <a:ext cx="4572000" cy="4572000"/>
          </a:xfrm>
          <a:prstGeom prst="ellipse">
            <a:avLst/>
          </a:prstGeom>
          <a:solidFill>
            <a:srgbClr val="028090">
              <a:alpha val="40000"/>
            </a:srgbClr>
          </a:solidFill>
          <a:ln/>
        </p:spPr>
      </p:sp>
      <p:sp>
        <p:nvSpPr>
          <p:cNvPr id="4" name="Text 2"/>
          <p:cNvSpPr/>
          <p:nvPr/>
        </p:nvSpPr>
        <p:spPr>
          <a:xfrm>
            <a:off x="548640" y="502920"/>
            <a:ext cx="45720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SONUÇ VE ÖNERİ</a:t>
            </a:r>
            <a:endParaRPr lang="en-US" sz="1300" dirty="0"/>
          </a:p>
        </p:txBody>
      </p:sp>
      <p:sp>
        <p:nvSpPr>
          <p:cNvPr id="5" name="Text 3"/>
          <p:cNvSpPr/>
          <p:nvPr/>
        </p:nvSpPr>
        <p:spPr>
          <a:xfrm>
            <a:off x="548640" y="868680"/>
            <a:ext cx="11064240" cy="1371600"/>
          </a:xfrm>
          <a:prstGeom prst="rect">
            <a:avLst/>
          </a:prstGeom>
          <a:noFill/>
          <a:ln/>
        </p:spPr>
        <p:txBody>
          <a:bodyPr wrap="square" lIns="0" tIns="0" rIns="0" bIns="0" rtlCol="0" anchor="ctr"/>
          <a:lstStyle/>
          <a:p>
            <a:pPr indent="0" marL="0">
              <a:lnSpc>
                <a:spcPct val="108000"/>
              </a:lnSpc>
              <a:buNone/>
            </a:pPr>
            <a:r>
              <a:rPr lang="en-US" sz="3000" b="1" dirty="0">
                <a:solidFill>
                  <a:srgbClr val="FFFFFF"/>
                </a:solidFill>
                <a:latin typeface="Cambria" pitchFamily="34" charset="0"/>
                <a:ea typeface="Cambria" pitchFamily="34" charset="-122"/>
                <a:cs typeface="Cambria" pitchFamily="34" charset="-120"/>
              </a:rPr>
              <a:t>Java 25 + Spring Boot 4, dbs-platform'un</a:t>
            </a:r>
            <a:endParaRPr lang="en-US" sz="3000" dirty="0"/>
          </a:p>
          <a:p>
            <a:pPr indent="0" marL="0">
              <a:lnSpc>
                <a:spcPct val="108000"/>
              </a:lnSpc>
              <a:buNone/>
            </a:pPr>
            <a:r>
              <a:rPr lang="en-US" sz="3000" b="1" dirty="0">
                <a:solidFill>
                  <a:srgbClr val="FFFFFF"/>
                </a:solidFill>
                <a:latin typeface="Cambria" pitchFamily="34" charset="0"/>
                <a:ea typeface="Cambria" pitchFamily="34" charset="-122"/>
                <a:cs typeface="Cambria" pitchFamily="34" charset="-120"/>
              </a:rPr>
              <a:t>standart temeli olsun</a:t>
            </a:r>
            <a:endParaRPr lang="en-US" sz="3000" dirty="0"/>
          </a:p>
        </p:txBody>
      </p:sp>
      <p:sp>
        <p:nvSpPr>
          <p:cNvPr id="6" name="Text 4"/>
          <p:cNvSpPr/>
          <p:nvPr/>
        </p:nvSpPr>
        <p:spPr>
          <a:xfrm>
            <a:off x="548640" y="2514600"/>
            <a:ext cx="914400" cy="548640"/>
          </a:xfrm>
          <a:prstGeom prst="rect">
            <a:avLst/>
          </a:prstGeom>
          <a:noFill/>
          <a:ln/>
        </p:spPr>
        <p:txBody>
          <a:bodyPr wrap="square" lIns="0" tIns="0" rIns="0" bIns="0"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01</a:t>
            </a:r>
            <a:endParaRPr lang="en-US" sz="2600" dirty="0"/>
          </a:p>
        </p:txBody>
      </p:sp>
      <p:sp>
        <p:nvSpPr>
          <p:cNvPr id="7" name="Text 5"/>
          <p:cNvSpPr/>
          <p:nvPr/>
        </p:nvSpPr>
        <p:spPr>
          <a:xfrm>
            <a:off x="1417320" y="2532888"/>
            <a:ext cx="4434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POC'ta doğrulandı</a:t>
            </a:r>
            <a:endParaRPr lang="en-US" sz="1500" dirty="0"/>
          </a:p>
        </p:txBody>
      </p:sp>
      <p:sp>
        <p:nvSpPr>
          <p:cNvPr id="8" name="Text 6"/>
          <p:cNvSpPr/>
          <p:nvPr/>
        </p:nvSpPr>
        <p:spPr>
          <a:xfrm>
            <a:off x="1417320" y="2953512"/>
            <a:ext cx="4434840" cy="114300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Sanal thread'ler, sealed pattern matching, çekirdek resilience — hepsi çalışan kodda; kağıt üzerinde değil.</a:t>
            </a:r>
            <a:endParaRPr lang="en-US" sz="1150" dirty="0"/>
          </a:p>
        </p:txBody>
      </p:sp>
      <p:sp>
        <p:nvSpPr>
          <p:cNvPr id="9" name="Text 7"/>
          <p:cNvSpPr/>
          <p:nvPr/>
        </p:nvSpPr>
        <p:spPr>
          <a:xfrm>
            <a:off x="6263640" y="2514600"/>
            <a:ext cx="914400" cy="548640"/>
          </a:xfrm>
          <a:prstGeom prst="rect">
            <a:avLst/>
          </a:prstGeom>
          <a:noFill/>
          <a:ln/>
        </p:spPr>
        <p:txBody>
          <a:bodyPr wrap="square" lIns="0" tIns="0" rIns="0" bIns="0"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7132320" y="2532888"/>
            <a:ext cx="4434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En uzun destek penceresi</a:t>
            </a:r>
            <a:endParaRPr lang="en-US" sz="1500" dirty="0"/>
          </a:p>
        </p:txBody>
      </p:sp>
      <p:sp>
        <p:nvSpPr>
          <p:cNvPr id="11" name="Text 9"/>
          <p:cNvSpPr/>
          <p:nvPr/>
        </p:nvSpPr>
        <p:spPr>
          <a:xfrm>
            <a:off x="7132320" y="2953512"/>
            <a:ext cx="4434840" cy="114300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Kalan 11 legacy modül taşınırken tekrar bir sürüm geçişi gerekmiyor.</a:t>
            </a:r>
            <a:endParaRPr lang="en-US" sz="1150" dirty="0"/>
          </a:p>
        </p:txBody>
      </p:sp>
      <p:sp>
        <p:nvSpPr>
          <p:cNvPr id="12" name="Text 10"/>
          <p:cNvSpPr/>
          <p:nvPr/>
        </p:nvSpPr>
        <p:spPr>
          <a:xfrm>
            <a:off x="548640" y="4206240"/>
            <a:ext cx="914400" cy="548640"/>
          </a:xfrm>
          <a:prstGeom prst="rect">
            <a:avLst/>
          </a:prstGeom>
          <a:noFill/>
          <a:ln/>
        </p:spPr>
        <p:txBody>
          <a:bodyPr wrap="square" lIns="0" tIns="0" rIns="0" bIns="0"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03</a:t>
            </a:r>
            <a:endParaRPr lang="en-US" sz="2600" dirty="0"/>
          </a:p>
        </p:txBody>
      </p:sp>
      <p:sp>
        <p:nvSpPr>
          <p:cNvPr id="13" name="Text 11"/>
          <p:cNvSpPr/>
          <p:nvPr/>
        </p:nvSpPr>
        <p:spPr>
          <a:xfrm>
            <a:off x="1417320" y="4224528"/>
            <a:ext cx="4434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Daha dar bağımlılık yüzeyi</a:t>
            </a:r>
            <a:endParaRPr lang="en-US" sz="1500" dirty="0"/>
          </a:p>
        </p:txBody>
      </p:sp>
      <p:sp>
        <p:nvSpPr>
          <p:cNvPr id="14" name="Text 12"/>
          <p:cNvSpPr/>
          <p:nvPr/>
        </p:nvSpPr>
        <p:spPr>
          <a:xfrm>
            <a:off x="1417320" y="4645152"/>
            <a:ext cx="4434840" cy="114300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Modüler starter'lar + Jakarta EE 11 ile dbs-common gereksiz sınıfları sürüklemiyor.</a:t>
            </a:r>
            <a:endParaRPr lang="en-US" sz="1150" dirty="0"/>
          </a:p>
        </p:txBody>
      </p:sp>
      <p:sp>
        <p:nvSpPr>
          <p:cNvPr id="15" name="Text 13"/>
          <p:cNvSpPr/>
          <p:nvPr/>
        </p:nvSpPr>
        <p:spPr>
          <a:xfrm>
            <a:off x="6263640" y="4206240"/>
            <a:ext cx="914400" cy="548640"/>
          </a:xfrm>
          <a:prstGeom prst="rect">
            <a:avLst/>
          </a:prstGeom>
          <a:noFill/>
          <a:ln/>
        </p:spPr>
        <p:txBody>
          <a:bodyPr wrap="square" lIns="0" tIns="0" rIns="0" bIns="0"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04</a:t>
            </a:r>
            <a:endParaRPr lang="en-US" sz="2600" dirty="0"/>
          </a:p>
        </p:txBody>
      </p:sp>
      <p:sp>
        <p:nvSpPr>
          <p:cNvPr id="16" name="Text 14"/>
          <p:cNvSpPr/>
          <p:nvPr/>
        </p:nvSpPr>
        <p:spPr>
          <a:xfrm>
            <a:off x="7132320" y="4224528"/>
            <a:ext cx="4434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Netleşmiş yol haritası</a:t>
            </a:r>
            <a:endParaRPr lang="en-US" sz="1500" dirty="0"/>
          </a:p>
        </p:txBody>
      </p:sp>
      <p:sp>
        <p:nvSpPr>
          <p:cNvPr id="17" name="Text 15"/>
          <p:cNvSpPr/>
          <p:nvPr/>
        </p:nvSpPr>
        <p:spPr>
          <a:xfrm>
            <a:off x="7132320" y="4645152"/>
            <a:ext cx="4434840" cy="114300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ScopedValue geçişi ve Microsoft Graph adapter'ı bilinçli olarak sıradaki adım.</a:t>
            </a:r>
            <a:endParaRPr lang="en-US" sz="1150" dirty="0"/>
          </a:p>
        </p:txBody>
      </p:sp>
      <p:sp>
        <p:nvSpPr>
          <p:cNvPr id="18" name="Shape 16"/>
          <p:cNvSpPr/>
          <p:nvPr/>
        </p:nvSpPr>
        <p:spPr>
          <a:xfrm>
            <a:off x="548640" y="5897880"/>
            <a:ext cx="11064240" cy="0"/>
          </a:xfrm>
          <a:prstGeom prst="line">
            <a:avLst/>
          </a:prstGeom>
          <a:noFill/>
          <a:ln w="12700">
            <a:solidFill>
              <a:srgbClr val="3A4585"/>
            </a:solidFill>
            <a:prstDash val="solid"/>
          </a:ln>
        </p:spPr>
      </p:sp>
      <p:sp>
        <p:nvSpPr>
          <p:cNvPr id="19" name="Text 17"/>
          <p:cNvSpPr/>
          <p:nvPr/>
        </p:nvSpPr>
        <p:spPr>
          <a:xfrm>
            <a:off x="548640" y="6035040"/>
            <a:ext cx="11064240" cy="457200"/>
          </a:xfrm>
          <a:prstGeom prst="rect">
            <a:avLst/>
          </a:prstGeom>
          <a:noFill/>
          <a:ln/>
        </p:spPr>
        <p:txBody>
          <a:bodyPr wrap="square" lIns="0" tIns="0" rIns="0" bIns="0" rtlCol="0" anchor="ctr"/>
          <a:lstStyle/>
          <a:p>
            <a:pPr indent="0" marL="0">
              <a:lnSpc>
                <a:spcPct val="115000"/>
              </a:lnSpc>
              <a:buNone/>
            </a:pPr>
            <a:r>
              <a:rPr lang="en-US" sz="1080" i="1" dirty="0">
                <a:solidFill>
                  <a:srgbClr val="AEB9DE"/>
                </a:solidFill>
                <a:latin typeface="Calibri" pitchFamily="34" charset="0"/>
                <a:ea typeface="Calibri" pitchFamily="34" charset="-122"/>
                <a:cs typeface="Calibri" pitchFamily="34" charset="-120"/>
              </a:rPr>
              <a:t>Öneri: Bu kararların gerekçesi kısa bir ADR (Architecture Decision Record) olarak dokümante edilsin — 6 ay sonra "neden buna karar vermiştik" sorusuna hızlı cevap, kalan 11 modülü üstlenecek yeni geliştiriciler için de en kısa bağlam kazanma yolu.</a:t>
            </a:r>
            <a:endParaRPr lang="en-US" sz="1080" dirty="0"/>
          </a:p>
        </p:txBody>
      </p:sp>
      <p:sp>
        <p:nvSpPr>
          <p:cNvPr id="20" name="Text 1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dbs-platform  ·  Java 25 + Spring Boot 4</a:t>
            </a:r>
            <a:endParaRPr lang="en-US" sz="900" dirty="0"/>
          </a:p>
        </p:txBody>
      </p:sp>
      <p:sp>
        <p:nvSpPr>
          <p:cNvPr id="21" name="Text 19"/>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2026-08-10T18:00:04Z</dcterms:created>
  <dcterms:modified xsi:type="dcterms:W3CDTF">2026-08-10T18:00:04Z</dcterms:modified>
</cp:coreProperties>
</file>